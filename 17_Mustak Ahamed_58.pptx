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3300"/>
    <a:srgbClr val="660066"/>
    <a:srgbClr val="0000FF"/>
    <a:srgbClr val="00CC00"/>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89" d="100"/>
          <a:sy n="89" d="100"/>
        </p:scale>
        <p:origin x="1350"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AE6B4-70C4-8566-4913-AB18799CF50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4FC6472-203E-E7A4-397A-333E3A9DAF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1E7B352-1674-A043-2760-5AD5CEC53AD3}"/>
              </a:ext>
            </a:extLst>
          </p:cNvPr>
          <p:cNvSpPr>
            <a:spLocks noGrp="1"/>
          </p:cNvSpPr>
          <p:nvPr>
            <p:ph type="dt" sz="half" idx="10"/>
          </p:nvPr>
        </p:nvSpPr>
        <p:spPr/>
        <p:txBody>
          <a:bodyPr/>
          <a:lstStyle/>
          <a:p>
            <a:fld id="{6DC5C5D2-FB02-4100-BE75-A52F4EDD4469}" type="datetimeFigureOut">
              <a:rPr lang="en-US" smtClean="0"/>
              <a:t>1/24/2025</a:t>
            </a:fld>
            <a:endParaRPr lang="en-US"/>
          </a:p>
        </p:txBody>
      </p:sp>
      <p:sp>
        <p:nvSpPr>
          <p:cNvPr id="5" name="Footer Placeholder 4">
            <a:extLst>
              <a:ext uri="{FF2B5EF4-FFF2-40B4-BE49-F238E27FC236}">
                <a16:creationId xmlns:a16="http://schemas.microsoft.com/office/drawing/2014/main" id="{F767F985-5810-4CDD-B485-152EDDAE20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B288DB-BCA4-3126-ADAE-374E9E046646}"/>
              </a:ext>
            </a:extLst>
          </p:cNvPr>
          <p:cNvSpPr>
            <a:spLocks noGrp="1"/>
          </p:cNvSpPr>
          <p:nvPr>
            <p:ph type="sldNum" sz="quarter" idx="12"/>
          </p:nvPr>
        </p:nvSpPr>
        <p:spPr/>
        <p:txBody>
          <a:bodyPr/>
          <a:lstStyle/>
          <a:p>
            <a:fld id="{7DBF8353-27AE-4ED0-9D68-F8890AD5CB4C}" type="slidenum">
              <a:rPr lang="en-US" smtClean="0"/>
              <a:t>‹#›</a:t>
            </a:fld>
            <a:endParaRPr lang="en-US"/>
          </a:p>
        </p:txBody>
      </p:sp>
    </p:spTree>
    <p:extLst>
      <p:ext uri="{BB962C8B-B14F-4D97-AF65-F5344CB8AC3E}">
        <p14:creationId xmlns:p14="http://schemas.microsoft.com/office/powerpoint/2010/main" val="2443918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481EB-22F7-9FC4-0814-DB86185A37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0F26BA-4E64-A07D-AC27-CDE16CF4AD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845484-F111-4E2A-3959-77623C09B088}"/>
              </a:ext>
            </a:extLst>
          </p:cNvPr>
          <p:cNvSpPr>
            <a:spLocks noGrp="1"/>
          </p:cNvSpPr>
          <p:nvPr>
            <p:ph type="dt" sz="half" idx="10"/>
          </p:nvPr>
        </p:nvSpPr>
        <p:spPr/>
        <p:txBody>
          <a:bodyPr/>
          <a:lstStyle/>
          <a:p>
            <a:fld id="{6DC5C5D2-FB02-4100-BE75-A52F4EDD4469}" type="datetimeFigureOut">
              <a:rPr lang="en-US" smtClean="0"/>
              <a:t>1/24/2025</a:t>
            </a:fld>
            <a:endParaRPr lang="en-US"/>
          </a:p>
        </p:txBody>
      </p:sp>
      <p:sp>
        <p:nvSpPr>
          <p:cNvPr id="5" name="Footer Placeholder 4">
            <a:extLst>
              <a:ext uri="{FF2B5EF4-FFF2-40B4-BE49-F238E27FC236}">
                <a16:creationId xmlns:a16="http://schemas.microsoft.com/office/drawing/2014/main" id="{63257BD5-0041-B5B8-5935-7FB06831D1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3F21CF-0F39-D7C2-57C7-CAA1260F5D16}"/>
              </a:ext>
            </a:extLst>
          </p:cNvPr>
          <p:cNvSpPr>
            <a:spLocks noGrp="1"/>
          </p:cNvSpPr>
          <p:nvPr>
            <p:ph type="sldNum" sz="quarter" idx="12"/>
          </p:nvPr>
        </p:nvSpPr>
        <p:spPr/>
        <p:txBody>
          <a:bodyPr/>
          <a:lstStyle/>
          <a:p>
            <a:fld id="{7DBF8353-27AE-4ED0-9D68-F8890AD5CB4C}" type="slidenum">
              <a:rPr lang="en-US" smtClean="0"/>
              <a:t>‹#›</a:t>
            </a:fld>
            <a:endParaRPr lang="en-US"/>
          </a:p>
        </p:txBody>
      </p:sp>
    </p:spTree>
    <p:extLst>
      <p:ext uri="{BB962C8B-B14F-4D97-AF65-F5344CB8AC3E}">
        <p14:creationId xmlns:p14="http://schemas.microsoft.com/office/powerpoint/2010/main" val="4235049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3CD8E-6CF2-3913-707E-C2728D69B5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816FE53-81F6-C93C-1188-05862E1FD3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52A0A7-4142-12D5-34FA-92404FB42C6C}"/>
              </a:ext>
            </a:extLst>
          </p:cNvPr>
          <p:cNvSpPr>
            <a:spLocks noGrp="1"/>
          </p:cNvSpPr>
          <p:nvPr>
            <p:ph type="dt" sz="half" idx="10"/>
          </p:nvPr>
        </p:nvSpPr>
        <p:spPr/>
        <p:txBody>
          <a:bodyPr/>
          <a:lstStyle/>
          <a:p>
            <a:fld id="{6DC5C5D2-FB02-4100-BE75-A52F4EDD4469}" type="datetimeFigureOut">
              <a:rPr lang="en-US" smtClean="0"/>
              <a:t>1/24/2025</a:t>
            </a:fld>
            <a:endParaRPr lang="en-US"/>
          </a:p>
        </p:txBody>
      </p:sp>
      <p:sp>
        <p:nvSpPr>
          <p:cNvPr id="5" name="Footer Placeholder 4">
            <a:extLst>
              <a:ext uri="{FF2B5EF4-FFF2-40B4-BE49-F238E27FC236}">
                <a16:creationId xmlns:a16="http://schemas.microsoft.com/office/drawing/2014/main" id="{8093A8A4-753B-6700-2909-74E7A7EF81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C61296-577C-4B5A-BF49-4F9121F7C337}"/>
              </a:ext>
            </a:extLst>
          </p:cNvPr>
          <p:cNvSpPr>
            <a:spLocks noGrp="1"/>
          </p:cNvSpPr>
          <p:nvPr>
            <p:ph type="sldNum" sz="quarter" idx="12"/>
          </p:nvPr>
        </p:nvSpPr>
        <p:spPr/>
        <p:txBody>
          <a:bodyPr/>
          <a:lstStyle/>
          <a:p>
            <a:fld id="{7DBF8353-27AE-4ED0-9D68-F8890AD5CB4C}" type="slidenum">
              <a:rPr lang="en-US" smtClean="0"/>
              <a:t>‹#›</a:t>
            </a:fld>
            <a:endParaRPr lang="en-US"/>
          </a:p>
        </p:txBody>
      </p:sp>
    </p:spTree>
    <p:extLst>
      <p:ext uri="{BB962C8B-B14F-4D97-AF65-F5344CB8AC3E}">
        <p14:creationId xmlns:p14="http://schemas.microsoft.com/office/powerpoint/2010/main" val="278088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2BA64-4E37-F22C-CBE6-8A53472EE4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F476B4-7D82-5060-A007-F0A5AC5AA13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07F5DC-6321-037D-C75E-BF296018F1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FA7C066-E481-BEEB-BE52-01971048F900}"/>
              </a:ext>
            </a:extLst>
          </p:cNvPr>
          <p:cNvSpPr>
            <a:spLocks noGrp="1"/>
          </p:cNvSpPr>
          <p:nvPr>
            <p:ph type="dt" sz="half" idx="10"/>
          </p:nvPr>
        </p:nvSpPr>
        <p:spPr/>
        <p:txBody>
          <a:bodyPr/>
          <a:lstStyle/>
          <a:p>
            <a:fld id="{6DC5C5D2-FB02-4100-BE75-A52F4EDD4469}" type="datetimeFigureOut">
              <a:rPr lang="en-US" smtClean="0"/>
              <a:t>1/24/2025</a:t>
            </a:fld>
            <a:endParaRPr lang="en-US"/>
          </a:p>
        </p:txBody>
      </p:sp>
      <p:sp>
        <p:nvSpPr>
          <p:cNvPr id="6" name="Footer Placeholder 5">
            <a:extLst>
              <a:ext uri="{FF2B5EF4-FFF2-40B4-BE49-F238E27FC236}">
                <a16:creationId xmlns:a16="http://schemas.microsoft.com/office/drawing/2014/main" id="{033F398E-5C92-268D-D8C8-27C92F7AC8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787E49-75F1-E4D9-2264-23C91EDCC555}"/>
              </a:ext>
            </a:extLst>
          </p:cNvPr>
          <p:cNvSpPr>
            <a:spLocks noGrp="1"/>
          </p:cNvSpPr>
          <p:nvPr>
            <p:ph type="sldNum" sz="quarter" idx="12"/>
          </p:nvPr>
        </p:nvSpPr>
        <p:spPr/>
        <p:txBody>
          <a:bodyPr/>
          <a:lstStyle/>
          <a:p>
            <a:fld id="{7DBF8353-27AE-4ED0-9D68-F8890AD5CB4C}" type="slidenum">
              <a:rPr lang="en-US" smtClean="0"/>
              <a:t>‹#›</a:t>
            </a:fld>
            <a:endParaRPr lang="en-US"/>
          </a:p>
        </p:txBody>
      </p:sp>
    </p:spTree>
    <p:extLst>
      <p:ext uri="{BB962C8B-B14F-4D97-AF65-F5344CB8AC3E}">
        <p14:creationId xmlns:p14="http://schemas.microsoft.com/office/powerpoint/2010/main" val="33130446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ACD63-408A-26B7-701B-76987C6C565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1CD6AC2-CD8C-FE8E-836A-FF82F49D51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D93AA9-BFA3-D013-DD31-3EA1DBD61C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2998019-87E2-A17B-F0CD-7BF18CA899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52D723-0B97-362B-F2E5-1C7131B3B3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64F7F19-162E-B25F-38C1-FD97E1082660}"/>
              </a:ext>
            </a:extLst>
          </p:cNvPr>
          <p:cNvSpPr>
            <a:spLocks noGrp="1"/>
          </p:cNvSpPr>
          <p:nvPr>
            <p:ph type="dt" sz="half" idx="10"/>
          </p:nvPr>
        </p:nvSpPr>
        <p:spPr/>
        <p:txBody>
          <a:bodyPr/>
          <a:lstStyle/>
          <a:p>
            <a:fld id="{6DC5C5D2-FB02-4100-BE75-A52F4EDD4469}" type="datetimeFigureOut">
              <a:rPr lang="en-US" smtClean="0"/>
              <a:t>1/24/2025</a:t>
            </a:fld>
            <a:endParaRPr lang="en-US"/>
          </a:p>
        </p:txBody>
      </p:sp>
      <p:sp>
        <p:nvSpPr>
          <p:cNvPr id="8" name="Footer Placeholder 7">
            <a:extLst>
              <a:ext uri="{FF2B5EF4-FFF2-40B4-BE49-F238E27FC236}">
                <a16:creationId xmlns:a16="http://schemas.microsoft.com/office/drawing/2014/main" id="{42758A86-0166-9B06-98D5-896A590C60E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7F81D74-0304-D500-727A-A11DA15172AE}"/>
              </a:ext>
            </a:extLst>
          </p:cNvPr>
          <p:cNvSpPr>
            <a:spLocks noGrp="1"/>
          </p:cNvSpPr>
          <p:nvPr>
            <p:ph type="sldNum" sz="quarter" idx="12"/>
          </p:nvPr>
        </p:nvSpPr>
        <p:spPr/>
        <p:txBody>
          <a:bodyPr/>
          <a:lstStyle/>
          <a:p>
            <a:fld id="{7DBF8353-27AE-4ED0-9D68-F8890AD5CB4C}" type="slidenum">
              <a:rPr lang="en-US" smtClean="0"/>
              <a:t>‹#›</a:t>
            </a:fld>
            <a:endParaRPr lang="en-US"/>
          </a:p>
        </p:txBody>
      </p:sp>
    </p:spTree>
    <p:extLst>
      <p:ext uri="{BB962C8B-B14F-4D97-AF65-F5344CB8AC3E}">
        <p14:creationId xmlns:p14="http://schemas.microsoft.com/office/powerpoint/2010/main" val="3999035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9D3D7-F3AD-123F-DC92-10B835926F3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AFDEB9-50E1-59A7-E3B9-6F7A5636C95A}"/>
              </a:ext>
            </a:extLst>
          </p:cNvPr>
          <p:cNvSpPr>
            <a:spLocks noGrp="1"/>
          </p:cNvSpPr>
          <p:nvPr>
            <p:ph type="dt" sz="half" idx="10"/>
          </p:nvPr>
        </p:nvSpPr>
        <p:spPr/>
        <p:txBody>
          <a:bodyPr/>
          <a:lstStyle/>
          <a:p>
            <a:fld id="{6DC5C5D2-FB02-4100-BE75-A52F4EDD4469}" type="datetimeFigureOut">
              <a:rPr lang="en-US" smtClean="0"/>
              <a:t>1/24/2025</a:t>
            </a:fld>
            <a:endParaRPr lang="en-US"/>
          </a:p>
        </p:txBody>
      </p:sp>
      <p:sp>
        <p:nvSpPr>
          <p:cNvPr id="4" name="Footer Placeholder 3">
            <a:extLst>
              <a:ext uri="{FF2B5EF4-FFF2-40B4-BE49-F238E27FC236}">
                <a16:creationId xmlns:a16="http://schemas.microsoft.com/office/drawing/2014/main" id="{CD0E82C2-C37E-7C12-02A6-9FC448E7DFC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6DDF42D-A01E-4403-A67F-5BC22B7BF3A3}"/>
              </a:ext>
            </a:extLst>
          </p:cNvPr>
          <p:cNvSpPr>
            <a:spLocks noGrp="1"/>
          </p:cNvSpPr>
          <p:nvPr>
            <p:ph type="sldNum" sz="quarter" idx="12"/>
          </p:nvPr>
        </p:nvSpPr>
        <p:spPr/>
        <p:txBody>
          <a:bodyPr/>
          <a:lstStyle/>
          <a:p>
            <a:fld id="{7DBF8353-27AE-4ED0-9D68-F8890AD5CB4C}" type="slidenum">
              <a:rPr lang="en-US" smtClean="0"/>
              <a:t>‹#›</a:t>
            </a:fld>
            <a:endParaRPr lang="en-US"/>
          </a:p>
        </p:txBody>
      </p:sp>
    </p:spTree>
    <p:extLst>
      <p:ext uri="{BB962C8B-B14F-4D97-AF65-F5344CB8AC3E}">
        <p14:creationId xmlns:p14="http://schemas.microsoft.com/office/powerpoint/2010/main" val="18021809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1AC5D9-26C8-1656-B79D-3A3518AF4722}"/>
              </a:ext>
            </a:extLst>
          </p:cNvPr>
          <p:cNvSpPr>
            <a:spLocks noGrp="1"/>
          </p:cNvSpPr>
          <p:nvPr>
            <p:ph type="dt" sz="half" idx="10"/>
          </p:nvPr>
        </p:nvSpPr>
        <p:spPr/>
        <p:txBody>
          <a:bodyPr/>
          <a:lstStyle/>
          <a:p>
            <a:fld id="{6DC5C5D2-FB02-4100-BE75-A52F4EDD4469}" type="datetimeFigureOut">
              <a:rPr lang="en-US" smtClean="0"/>
              <a:t>1/24/2025</a:t>
            </a:fld>
            <a:endParaRPr lang="en-US"/>
          </a:p>
        </p:txBody>
      </p:sp>
      <p:sp>
        <p:nvSpPr>
          <p:cNvPr id="3" name="Footer Placeholder 2">
            <a:extLst>
              <a:ext uri="{FF2B5EF4-FFF2-40B4-BE49-F238E27FC236}">
                <a16:creationId xmlns:a16="http://schemas.microsoft.com/office/drawing/2014/main" id="{D671959B-07D0-7B65-F2B8-5CD6E9212B4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269581A-BCF6-0CD9-5065-0372489B8D5C}"/>
              </a:ext>
            </a:extLst>
          </p:cNvPr>
          <p:cNvSpPr>
            <a:spLocks noGrp="1"/>
          </p:cNvSpPr>
          <p:nvPr>
            <p:ph type="sldNum" sz="quarter" idx="12"/>
          </p:nvPr>
        </p:nvSpPr>
        <p:spPr/>
        <p:txBody>
          <a:bodyPr/>
          <a:lstStyle/>
          <a:p>
            <a:fld id="{7DBF8353-27AE-4ED0-9D68-F8890AD5CB4C}" type="slidenum">
              <a:rPr lang="en-US" smtClean="0"/>
              <a:t>‹#›</a:t>
            </a:fld>
            <a:endParaRPr lang="en-US"/>
          </a:p>
        </p:txBody>
      </p:sp>
    </p:spTree>
    <p:extLst>
      <p:ext uri="{BB962C8B-B14F-4D97-AF65-F5344CB8AC3E}">
        <p14:creationId xmlns:p14="http://schemas.microsoft.com/office/powerpoint/2010/main" val="4141927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D2204-7AC6-D2D5-D023-5075B3988D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01F0286-D0A6-6B18-7938-EF4E04F15B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6EE206E-A85D-E4DC-B63C-5B197677CA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7ADC61-39B5-FA2A-4587-A78361E560A3}"/>
              </a:ext>
            </a:extLst>
          </p:cNvPr>
          <p:cNvSpPr>
            <a:spLocks noGrp="1"/>
          </p:cNvSpPr>
          <p:nvPr>
            <p:ph type="dt" sz="half" idx="10"/>
          </p:nvPr>
        </p:nvSpPr>
        <p:spPr/>
        <p:txBody>
          <a:bodyPr/>
          <a:lstStyle/>
          <a:p>
            <a:fld id="{6DC5C5D2-FB02-4100-BE75-A52F4EDD4469}" type="datetimeFigureOut">
              <a:rPr lang="en-US" smtClean="0"/>
              <a:t>1/24/2025</a:t>
            </a:fld>
            <a:endParaRPr lang="en-US"/>
          </a:p>
        </p:txBody>
      </p:sp>
      <p:sp>
        <p:nvSpPr>
          <p:cNvPr id="6" name="Footer Placeholder 5">
            <a:extLst>
              <a:ext uri="{FF2B5EF4-FFF2-40B4-BE49-F238E27FC236}">
                <a16:creationId xmlns:a16="http://schemas.microsoft.com/office/drawing/2014/main" id="{ADF5E443-24BA-0B5B-38B9-84707E90B7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8E173A-B790-6E8C-EAA2-A91D69D7144E}"/>
              </a:ext>
            </a:extLst>
          </p:cNvPr>
          <p:cNvSpPr>
            <a:spLocks noGrp="1"/>
          </p:cNvSpPr>
          <p:nvPr>
            <p:ph type="sldNum" sz="quarter" idx="12"/>
          </p:nvPr>
        </p:nvSpPr>
        <p:spPr/>
        <p:txBody>
          <a:bodyPr/>
          <a:lstStyle/>
          <a:p>
            <a:fld id="{7DBF8353-27AE-4ED0-9D68-F8890AD5CB4C}" type="slidenum">
              <a:rPr lang="en-US" smtClean="0"/>
              <a:t>‹#›</a:t>
            </a:fld>
            <a:endParaRPr lang="en-US"/>
          </a:p>
        </p:txBody>
      </p:sp>
    </p:spTree>
    <p:extLst>
      <p:ext uri="{BB962C8B-B14F-4D97-AF65-F5344CB8AC3E}">
        <p14:creationId xmlns:p14="http://schemas.microsoft.com/office/powerpoint/2010/main" val="1548659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18A86-8BE5-F37F-3635-8C097AA655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8BEA37-9D68-0A84-2462-18DB0CB548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4CCBA1C-175C-0E08-9C03-05C9EA86C1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C96A29-432F-26D0-7728-2DB722062B38}"/>
              </a:ext>
            </a:extLst>
          </p:cNvPr>
          <p:cNvSpPr>
            <a:spLocks noGrp="1"/>
          </p:cNvSpPr>
          <p:nvPr>
            <p:ph type="dt" sz="half" idx="10"/>
          </p:nvPr>
        </p:nvSpPr>
        <p:spPr/>
        <p:txBody>
          <a:bodyPr/>
          <a:lstStyle/>
          <a:p>
            <a:fld id="{6DC5C5D2-FB02-4100-BE75-A52F4EDD4469}" type="datetimeFigureOut">
              <a:rPr lang="en-US" smtClean="0"/>
              <a:t>1/24/2025</a:t>
            </a:fld>
            <a:endParaRPr lang="en-US"/>
          </a:p>
        </p:txBody>
      </p:sp>
      <p:sp>
        <p:nvSpPr>
          <p:cNvPr id="6" name="Footer Placeholder 5">
            <a:extLst>
              <a:ext uri="{FF2B5EF4-FFF2-40B4-BE49-F238E27FC236}">
                <a16:creationId xmlns:a16="http://schemas.microsoft.com/office/drawing/2014/main" id="{40760753-4777-E592-CC34-860E9B7395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3210E3-A87A-C88D-87F6-5199429B6D68}"/>
              </a:ext>
            </a:extLst>
          </p:cNvPr>
          <p:cNvSpPr>
            <a:spLocks noGrp="1"/>
          </p:cNvSpPr>
          <p:nvPr>
            <p:ph type="sldNum" sz="quarter" idx="12"/>
          </p:nvPr>
        </p:nvSpPr>
        <p:spPr/>
        <p:txBody>
          <a:bodyPr/>
          <a:lstStyle/>
          <a:p>
            <a:fld id="{7DBF8353-27AE-4ED0-9D68-F8890AD5CB4C}" type="slidenum">
              <a:rPr lang="en-US" smtClean="0"/>
              <a:t>‹#›</a:t>
            </a:fld>
            <a:endParaRPr lang="en-US"/>
          </a:p>
        </p:txBody>
      </p:sp>
    </p:spTree>
    <p:extLst>
      <p:ext uri="{BB962C8B-B14F-4D97-AF65-F5344CB8AC3E}">
        <p14:creationId xmlns:p14="http://schemas.microsoft.com/office/powerpoint/2010/main" val="565739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926F4-DDC2-9F3B-6477-995BB3395D6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D760C34-1F34-83CD-65F3-15E25AEAA0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E1BDC2-D693-3CAA-FC86-528E1AB060A2}"/>
              </a:ext>
            </a:extLst>
          </p:cNvPr>
          <p:cNvSpPr>
            <a:spLocks noGrp="1"/>
          </p:cNvSpPr>
          <p:nvPr>
            <p:ph type="dt" sz="half" idx="10"/>
          </p:nvPr>
        </p:nvSpPr>
        <p:spPr/>
        <p:txBody>
          <a:bodyPr/>
          <a:lstStyle/>
          <a:p>
            <a:fld id="{6DC5C5D2-FB02-4100-BE75-A52F4EDD4469}" type="datetimeFigureOut">
              <a:rPr lang="en-US" smtClean="0"/>
              <a:t>1/24/2025</a:t>
            </a:fld>
            <a:endParaRPr lang="en-US"/>
          </a:p>
        </p:txBody>
      </p:sp>
      <p:sp>
        <p:nvSpPr>
          <p:cNvPr id="5" name="Footer Placeholder 4">
            <a:extLst>
              <a:ext uri="{FF2B5EF4-FFF2-40B4-BE49-F238E27FC236}">
                <a16:creationId xmlns:a16="http://schemas.microsoft.com/office/drawing/2014/main" id="{1A8F0B6A-F069-B5E9-0AF4-B27EF1EDDE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EEF813-BD52-5C0D-2664-9960B059F868}"/>
              </a:ext>
            </a:extLst>
          </p:cNvPr>
          <p:cNvSpPr>
            <a:spLocks noGrp="1"/>
          </p:cNvSpPr>
          <p:nvPr>
            <p:ph type="sldNum" sz="quarter" idx="12"/>
          </p:nvPr>
        </p:nvSpPr>
        <p:spPr/>
        <p:txBody>
          <a:bodyPr/>
          <a:lstStyle/>
          <a:p>
            <a:fld id="{7DBF8353-27AE-4ED0-9D68-F8890AD5CB4C}" type="slidenum">
              <a:rPr lang="en-US" smtClean="0"/>
              <a:t>‹#›</a:t>
            </a:fld>
            <a:endParaRPr lang="en-US"/>
          </a:p>
        </p:txBody>
      </p:sp>
    </p:spTree>
    <p:extLst>
      <p:ext uri="{BB962C8B-B14F-4D97-AF65-F5344CB8AC3E}">
        <p14:creationId xmlns:p14="http://schemas.microsoft.com/office/powerpoint/2010/main" val="27850058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B6F0D0-4D78-846F-0AB3-63C6C4F25B9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E5D3F2C-76E8-9645-2CB6-B2CD01798A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50C7C-A8D2-04D3-412C-8B2DEB98FDA2}"/>
              </a:ext>
            </a:extLst>
          </p:cNvPr>
          <p:cNvSpPr>
            <a:spLocks noGrp="1"/>
          </p:cNvSpPr>
          <p:nvPr>
            <p:ph type="dt" sz="half" idx="10"/>
          </p:nvPr>
        </p:nvSpPr>
        <p:spPr/>
        <p:txBody>
          <a:bodyPr/>
          <a:lstStyle/>
          <a:p>
            <a:fld id="{6DC5C5D2-FB02-4100-BE75-A52F4EDD4469}" type="datetimeFigureOut">
              <a:rPr lang="en-US" smtClean="0"/>
              <a:t>1/24/2025</a:t>
            </a:fld>
            <a:endParaRPr lang="en-US"/>
          </a:p>
        </p:txBody>
      </p:sp>
      <p:sp>
        <p:nvSpPr>
          <p:cNvPr id="5" name="Footer Placeholder 4">
            <a:extLst>
              <a:ext uri="{FF2B5EF4-FFF2-40B4-BE49-F238E27FC236}">
                <a16:creationId xmlns:a16="http://schemas.microsoft.com/office/drawing/2014/main" id="{5D67187D-6863-AD78-0692-10C7A44ADD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724E30-1326-0F0A-C5D9-D456D4BCFE25}"/>
              </a:ext>
            </a:extLst>
          </p:cNvPr>
          <p:cNvSpPr>
            <a:spLocks noGrp="1"/>
          </p:cNvSpPr>
          <p:nvPr>
            <p:ph type="sldNum" sz="quarter" idx="12"/>
          </p:nvPr>
        </p:nvSpPr>
        <p:spPr/>
        <p:txBody>
          <a:bodyPr/>
          <a:lstStyle/>
          <a:p>
            <a:fld id="{7DBF8353-27AE-4ED0-9D68-F8890AD5CB4C}" type="slidenum">
              <a:rPr lang="en-US" smtClean="0"/>
              <a:t>‹#›</a:t>
            </a:fld>
            <a:endParaRPr lang="en-US"/>
          </a:p>
        </p:txBody>
      </p:sp>
    </p:spTree>
    <p:extLst>
      <p:ext uri="{BB962C8B-B14F-4D97-AF65-F5344CB8AC3E}">
        <p14:creationId xmlns:p14="http://schemas.microsoft.com/office/powerpoint/2010/main" val="41071311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88182C-01DF-01BE-0519-C51E952C5E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225ADA0-E96F-BA4E-6DE8-34FB0E16EA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655797-3B0E-6D38-8B6B-50E4ABA797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DC5C5D2-FB02-4100-BE75-A52F4EDD4469}" type="datetimeFigureOut">
              <a:rPr lang="en-US" smtClean="0"/>
              <a:t>1/24/2025</a:t>
            </a:fld>
            <a:endParaRPr lang="en-US"/>
          </a:p>
        </p:txBody>
      </p:sp>
      <p:sp>
        <p:nvSpPr>
          <p:cNvPr id="5" name="Footer Placeholder 4">
            <a:extLst>
              <a:ext uri="{FF2B5EF4-FFF2-40B4-BE49-F238E27FC236}">
                <a16:creationId xmlns:a16="http://schemas.microsoft.com/office/drawing/2014/main" id="{8E6904E1-AB4E-DB73-CDCD-C9DDCE3EF3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A532902-A829-1B3F-7087-65B5F6A09F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DBF8353-27AE-4ED0-9D68-F8890AD5CB4C}" type="slidenum">
              <a:rPr lang="en-US" smtClean="0"/>
              <a:t>‹#›</a:t>
            </a:fld>
            <a:endParaRPr lang="en-US"/>
          </a:p>
        </p:txBody>
      </p:sp>
    </p:spTree>
    <p:extLst>
      <p:ext uri="{BB962C8B-B14F-4D97-AF65-F5344CB8AC3E}">
        <p14:creationId xmlns:p14="http://schemas.microsoft.com/office/powerpoint/2010/main" val="15106997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8" Type="http://schemas.openxmlformats.org/officeDocument/2006/relationships/hyperlink" Target="https://en.wikipedia.org/wiki/Myanmar" TargetMode="External"/><Relationship Id="rId13" Type="http://schemas.openxmlformats.org/officeDocument/2006/relationships/hyperlink" Target="https://en.wikipedia.org/wiki/China" TargetMode="External"/><Relationship Id="rId18" Type="http://schemas.openxmlformats.org/officeDocument/2006/relationships/hyperlink" Target="https://en.wikipedia.org/wiki/Bengali_language" TargetMode="External"/><Relationship Id="rId3" Type="http://schemas.openxmlformats.org/officeDocument/2006/relationships/hyperlink" Target="https://en.wikipedia.org/wiki/Bangladesh#cite_note-17" TargetMode="External"/><Relationship Id="rId21" Type="http://schemas.openxmlformats.org/officeDocument/2006/relationships/hyperlink" Target="https://en.wikipedia.org/wiki/Bengali_Muslim" TargetMode="External"/><Relationship Id="rId7" Type="http://schemas.openxmlformats.org/officeDocument/2006/relationships/hyperlink" Target="https://en.wikipedia.org/wiki/India" TargetMode="External"/><Relationship Id="rId12" Type="http://schemas.openxmlformats.org/officeDocument/2006/relationships/hyperlink" Target="https://en.wikipedia.org/wiki/Siliguri_Corridor" TargetMode="External"/><Relationship Id="rId17" Type="http://schemas.openxmlformats.org/officeDocument/2006/relationships/hyperlink" Target="https://en.wikipedia.org/wiki/Chittagong" TargetMode="External"/><Relationship Id="rId2" Type="http://schemas.openxmlformats.org/officeDocument/2006/relationships/hyperlink" Target="https://en.wikipedia.org/wiki/Bangladesh#cite_note-16" TargetMode="External"/><Relationship Id="rId16" Type="http://schemas.openxmlformats.org/officeDocument/2006/relationships/hyperlink" Target="https://en.wikipedia.org/wiki/List_of_cities_and_towns_in_Bangladesh" TargetMode="External"/><Relationship Id="rId20" Type="http://schemas.openxmlformats.org/officeDocument/2006/relationships/hyperlink" Target="https://en.wikipedia.org/wiki/Religion_in_Bangladesh" TargetMode="External"/><Relationship Id="rId1" Type="http://schemas.openxmlformats.org/officeDocument/2006/relationships/slideLayout" Target="../slideLayouts/slideLayout2.xml"/><Relationship Id="rId6" Type="http://schemas.openxmlformats.org/officeDocument/2006/relationships/hyperlink" Target="https://en.wikipedia.org/wiki/List_of_countries_and_dependencies_by_population_density" TargetMode="External"/><Relationship Id="rId11" Type="http://schemas.openxmlformats.org/officeDocument/2006/relationships/hyperlink" Target="https://en.wikipedia.org/wiki/Nepal" TargetMode="External"/><Relationship Id="rId5" Type="http://schemas.openxmlformats.org/officeDocument/2006/relationships/hyperlink" Target="https://en.wikipedia.org/wiki/List_of_countries_and_dependencies_by_population" TargetMode="External"/><Relationship Id="rId15" Type="http://schemas.openxmlformats.org/officeDocument/2006/relationships/hyperlink" Target="https://en.wikipedia.org/wiki/Dhaka" TargetMode="External"/><Relationship Id="rId10" Type="http://schemas.openxmlformats.org/officeDocument/2006/relationships/hyperlink" Target="https://en.wikipedia.org/wiki/Bhutan" TargetMode="External"/><Relationship Id="rId19" Type="http://schemas.openxmlformats.org/officeDocument/2006/relationships/hyperlink" Target="https://en.wikipedia.org/wiki/Islam_in_Bangladesh" TargetMode="External"/><Relationship Id="rId4" Type="http://schemas.openxmlformats.org/officeDocument/2006/relationships/hyperlink" Target="https://en.wikipedia.org/wiki/South_Asia" TargetMode="External"/><Relationship Id="rId9" Type="http://schemas.openxmlformats.org/officeDocument/2006/relationships/hyperlink" Target="https://en.wikipedia.org/wiki/Bay_of_Bengal" TargetMode="External"/><Relationship Id="rId14" Type="http://schemas.openxmlformats.org/officeDocument/2006/relationships/hyperlink" Target="https://en.wikipedia.org/wiki/Sikkim" TargetMode="External"/><Relationship Id="rId22" Type="http://schemas.openxmlformats.org/officeDocument/2006/relationships/hyperlink" Target="https://en.wikipedia.org/wiki/Ethnoreligious_group"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hyperlink" Target="https://en.wikipedia.org/wiki/Khulna_Division" TargetMode="External"/><Relationship Id="rId13" Type="http://schemas.openxmlformats.org/officeDocument/2006/relationships/image" Target="../media/image7.jpeg"/><Relationship Id="rId3" Type="http://schemas.openxmlformats.org/officeDocument/2006/relationships/image" Target="../media/image5.jpeg"/><Relationship Id="rId7" Type="http://schemas.openxmlformats.org/officeDocument/2006/relationships/hyperlink" Target="https://en.wikipedia.org/wiki/Chittagong_Division" TargetMode="External"/><Relationship Id="rId12" Type="http://schemas.openxmlformats.org/officeDocument/2006/relationships/image" Target="../media/image6.jpe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hyperlink" Target="https://en.wikipedia.org/wiki/Bay_of_Bengal" TargetMode="External"/><Relationship Id="rId11" Type="http://schemas.openxmlformats.org/officeDocument/2006/relationships/hyperlink" Target="https://en.wikipedia.org/wiki/Kirtankhola" TargetMode="External"/><Relationship Id="rId5" Type="http://schemas.openxmlformats.org/officeDocument/2006/relationships/hyperlink" Target="https://en.wikipedia.org/wiki/Dhaka_Division" TargetMode="External"/><Relationship Id="rId15" Type="http://schemas.openxmlformats.org/officeDocument/2006/relationships/image" Target="../media/image9.jpeg"/><Relationship Id="rId10" Type="http://schemas.openxmlformats.org/officeDocument/2006/relationships/hyperlink" Target="https://en.wikipedia.org/wiki/Padma_River" TargetMode="External"/><Relationship Id="rId4" Type="http://schemas.openxmlformats.org/officeDocument/2006/relationships/hyperlink" Target="https://en.wikipedia.org/wiki/Divisions_of_Bangladesh" TargetMode="External"/><Relationship Id="rId9" Type="http://schemas.openxmlformats.org/officeDocument/2006/relationships/hyperlink" Target="https://en.wikipedia.org/wiki/Barisal" TargetMode="External"/><Relationship Id="rId1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eg"/></Relationships>
</file>

<file path=ppt/slides/_rels/slide6.xml.rels><?xml version="1.0" encoding="UTF-8" standalone="yes"?>
<Relationships xmlns="http://schemas.openxmlformats.org/package/2006/relationships"><Relationship Id="rId3" Type="http://schemas.openxmlformats.org/officeDocument/2006/relationships/hyperlink" Target="https://bn.wikipedia.org/wiki/%E0%A6%AC%E0%A6%BE%E0%A6%82%E0%A6%B2%E0%A6%BE%E0%A6%A6%E0%A7%87%E0%A6%B6" TargetMode="External"/><Relationship Id="rId7" Type="http://schemas.openxmlformats.org/officeDocument/2006/relationships/image" Target="../media/image16.jpeg"/><Relationship Id="rId2" Type="http://schemas.openxmlformats.org/officeDocument/2006/relationships/hyperlink" Target="https://bn.wikipedia.org/wiki/%E0%A6%AC%E0%A6%BE%E0%A6%82%E0%A6%B2%E0%A6%BE%E0%A6%A6%E0%A7%87%E0%A6%B6%E0%A7%87%E0%A6%B0_%E0%A6%AC%E0%A6%BF%E0%A6%AD%E0%A6%BE%E0%A6%97%E0%A6%B8%E0%A6%AE%E0%A7%82%E0%A6%B9" TargetMode="External"/><Relationship Id="rId1" Type="http://schemas.openxmlformats.org/officeDocument/2006/relationships/slideLayout" Target="../slideLayouts/slideLayout2.xml"/><Relationship Id="rId6" Type="http://schemas.openxmlformats.org/officeDocument/2006/relationships/image" Target="../media/image15.jpeg"/><Relationship Id="rId5" Type="http://schemas.openxmlformats.org/officeDocument/2006/relationships/hyperlink" Target="https://bn.wikipedia.org/wiki/%E0%A6%A8%E0%A6%BE%E0%A6%B0%E0%A6%BE%E0%A6%AF%E0%A6%BC%E0%A6%A3%E0%A6%97%E0%A6%9E%E0%A7%8D%E0%A6%9C_%E0%A6%9C%E0%A7%87%E0%A6%B2%E0%A6%BE" TargetMode="External"/><Relationship Id="rId4" Type="http://schemas.openxmlformats.org/officeDocument/2006/relationships/hyperlink" Target="https://bn.wikipedia.org/wiki/%E0%A6%9F%E0%A6%BE%E0%A6%99%E0%A7%8D%E0%A6%97%E0%A6%BE%E0%A6%87%E0%A6%B2_%E0%A6%9C%E0%A7%87%E0%A6%B2%E0%A6%BE"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7" Type="http://schemas.openxmlformats.org/officeDocument/2006/relationships/hyperlink" Target="https://bn.wikipedia.org/wiki/%E0%A6%A8%E0%A6%BE%E0%A6%B0%E0%A6%BE%E0%A6%AF%E0%A6%BC%E0%A6%A3%E0%A6%97%E0%A6%9E%E0%A7%8D%E0%A6%9C_%E0%A6%9C%E0%A7%87%E0%A6%B2%E0%A6%BE" TargetMode="External"/><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hyperlink" Target="https://bn.wikipedia.org/wiki/%E0%A6%9F%E0%A6%BE%E0%A6%99%E0%A7%8D%E0%A6%97%E0%A6%BE%E0%A6%87%E0%A6%B2_%E0%A6%9C%E0%A7%87%E0%A6%B2%E0%A6%BE" TargetMode="External"/><Relationship Id="rId5" Type="http://schemas.openxmlformats.org/officeDocument/2006/relationships/hyperlink" Target="https://bn.wikipedia.org/wiki/%E0%A6%AC%E0%A6%BE%E0%A6%82%E0%A6%B2%E0%A6%BE%E0%A6%A6%E0%A7%87%E0%A6%B6" TargetMode="External"/><Relationship Id="rId4" Type="http://schemas.openxmlformats.org/officeDocument/2006/relationships/hyperlink" Target="https://bn.wikipedia.org/wiki/%E0%A6%AC%E0%A6%BE%E0%A6%82%E0%A6%B2%E0%A6%BE%E0%A6%A6%E0%A7%87%E0%A6%B6%E0%A7%87%E0%A6%B0_%E0%A6%AC%E0%A6%BF%E0%A6%AD%E0%A6%BE%E0%A6%97%E0%A6%B8%E0%A6%AE%E0%A7%82%E0%A6%B9"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https://en.wikipedia.org/wiki/Rajshahi_Division#cite_note-7" TargetMode="External"/><Relationship Id="rId13" Type="http://schemas.openxmlformats.org/officeDocument/2006/relationships/hyperlink" Target="https://en.wikipedia.org/wiki/Zamindars" TargetMode="External"/><Relationship Id="rId3" Type="http://schemas.openxmlformats.org/officeDocument/2006/relationships/image" Target="../media/image20.jpeg"/><Relationship Id="rId7" Type="http://schemas.openxmlformats.org/officeDocument/2006/relationships/hyperlink" Target="https://en.wikipedia.org/wiki/Rajshahi_Division#cite_note-Banglapedia-6" TargetMode="External"/><Relationship Id="rId12" Type="http://schemas.openxmlformats.org/officeDocument/2006/relationships/hyperlink" Target="https://en.wikipedia.org/wiki/Maharaja" TargetMode="External"/><Relationship Id="rId2" Type="http://schemas.openxmlformats.org/officeDocument/2006/relationships/image" Target="../media/image19.jpeg"/><Relationship Id="rId1" Type="http://schemas.openxmlformats.org/officeDocument/2006/relationships/slideLayout" Target="../slideLayouts/slideLayout2.xml"/><Relationship Id="rId6" Type="http://schemas.openxmlformats.org/officeDocument/2006/relationships/hyperlink" Target="https://en.wikipedia.org/wiki/Divisions_of_Bangladesh" TargetMode="External"/><Relationship Id="rId11" Type="http://schemas.openxmlformats.org/officeDocument/2006/relationships/hyperlink" Target="https://en.wikipedia.org/wiki/Raja" TargetMode="External"/><Relationship Id="rId5" Type="http://schemas.openxmlformats.org/officeDocument/2006/relationships/hyperlink" Target="https://en.wikipedia.org/wiki/Bengali_language" TargetMode="External"/><Relationship Id="rId15" Type="http://schemas.openxmlformats.org/officeDocument/2006/relationships/hyperlink" Target="https://en.wikipedia.org/wiki/Rangpur_Division" TargetMode="External"/><Relationship Id="rId10" Type="http://schemas.openxmlformats.org/officeDocument/2006/relationships/hyperlink" Target="https://en.wikipedia.org/wiki/Union_councils_of_Bangladesh" TargetMode="External"/><Relationship Id="rId4" Type="http://schemas.openxmlformats.org/officeDocument/2006/relationships/image" Target="../media/image21.jpeg"/><Relationship Id="rId9" Type="http://schemas.openxmlformats.org/officeDocument/2006/relationships/hyperlink" Target="https://en.wikipedia.org/wiki/Upazila" TargetMode="External"/><Relationship Id="rId14" Type="http://schemas.openxmlformats.org/officeDocument/2006/relationships/hyperlink" Target="https://en.wikipedia.org/wiki/Rajshahi_Division#cite_note-book-8"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10.xml.rels><?xml version="1.0" encoding="UTF-8" standalone="yes"?>
<Relationships xmlns="http://schemas.openxmlformats.org/package/2006/relationships"><Relationship Id="rId8" Type="http://schemas.openxmlformats.org/officeDocument/2006/relationships/hyperlink" Target="https://en.wikipedia.org/wiki/Meghalaya" TargetMode="External"/><Relationship Id="rId13" Type="http://schemas.openxmlformats.org/officeDocument/2006/relationships/hyperlink" Target="https://en.wikipedia.org/wiki/Mymensingh_Division" TargetMode="External"/><Relationship Id="rId18" Type="http://schemas.openxmlformats.org/officeDocument/2006/relationships/hyperlink" Target="https://en.wikipedia.org/wiki/Badarpur,_Assam" TargetMode="External"/><Relationship Id="rId3" Type="http://schemas.openxmlformats.org/officeDocument/2006/relationships/image" Target="../media/image26.jpeg"/><Relationship Id="rId21" Type="http://schemas.openxmlformats.org/officeDocument/2006/relationships/hyperlink" Target="https://en.wikipedia.org/wiki/Radcliffe_Line" TargetMode="External"/><Relationship Id="rId7" Type="http://schemas.openxmlformats.org/officeDocument/2006/relationships/hyperlink" Target="https://en.wikipedia.org/wiki/States_and_union_territories_of_India" TargetMode="External"/><Relationship Id="rId12" Type="http://schemas.openxmlformats.org/officeDocument/2006/relationships/hyperlink" Target="https://en.wikipedia.org/wiki/Dhaka_Division" TargetMode="External"/><Relationship Id="rId17" Type="http://schemas.openxmlformats.org/officeDocument/2006/relationships/hyperlink" Target="https://en.wikipedia.org/wiki/Thana" TargetMode="External"/><Relationship Id="rId2" Type="http://schemas.openxmlformats.org/officeDocument/2006/relationships/image" Target="../media/image25.jpeg"/><Relationship Id="rId16" Type="http://schemas.openxmlformats.org/officeDocument/2006/relationships/hyperlink" Target="https://en.wikipedia.org/wiki/Barak_Valley" TargetMode="External"/><Relationship Id="rId20" Type="http://schemas.openxmlformats.org/officeDocument/2006/relationships/hyperlink" Target="https://en.wikipedia.org/wiki/Ratabari_Assembly_constituency" TargetMode="External"/><Relationship Id="rId1" Type="http://schemas.openxmlformats.org/officeDocument/2006/relationships/slideLayout" Target="../slideLayouts/slideLayout2.xml"/><Relationship Id="rId6" Type="http://schemas.openxmlformats.org/officeDocument/2006/relationships/hyperlink" Target="https://en.wikipedia.org/wiki/Bangladesh" TargetMode="External"/><Relationship Id="rId11" Type="http://schemas.openxmlformats.org/officeDocument/2006/relationships/hyperlink" Target="https://en.wikipedia.org/wiki/Chittagong_Division" TargetMode="External"/><Relationship Id="rId24" Type="http://schemas.openxmlformats.org/officeDocument/2006/relationships/hyperlink" Target="https://en.wikipedia.org/wiki/Sylhet_Division#cite_note-16" TargetMode="External"/><Relationship Id="rId5" Type="http://schemas.openxmlformats.org/officeDocument/2006/relationships/hyperlink" Target="https://en.wikipedia.org/wiki/Divisions_of_Bangladesh" TargetMode="External"/><Relationship Id="rId15" Type="http://schemas.openxmlformats.org/officeDocument/2006/relationships/hyperlink" Target="https://en.wikipedia.org/wiki/Karimganj_district" TargetMode="External"/><Relationship Id="rId23" Type="http://schemas.openxmlformats.org/officeDocument/2006/relationships/hyperlink" Target="https://en.wikipedia.org/wiki/Abdul_Matlib_Mazumdar" TargetMode="External"/><Relationship Id="rId10" Type="http://schemas.openxmlformats.org/officeDocument/2006/relationships/hyperlink" Target="https://en.wikipedia.org/wiki/Tripura" TargetMode="External"/><Relationship Id="rId19" Type="http://schemas.openxmlformats.org/officeDocument/2006/relationships/hyperlink" Target="https://en.wikipedia.org/wiki/Patharkandi" TargetMode="External"/><Relationship Id="rId4" Type="http://schemas.openxmlformats.org/officeDocument/2006/relationships/image" Target="../media/image27.jpeg"/><Relationship Id="rId9" Type="http://schemas.openxmlformats.org/officeDocument/2006/relationships/hyperlink" Target="https://en.wikipedia.org/wiki/Assam" TargetMode="External"/><Relationship Id="rId14" Type="http://schemas.openxmlformats.org/officeDocument/2006/relationships/hyperlink" Target="https://en.wikipedia.org/wiki/Partition_of_India" TargetMode="External"/><Relationship Id="rId22" Type="http://schemas.openxmlformats.org/officeDocument/2006/relationships/hyperlink" Target="https://en.wikipedia.org/wiki/Niharranjan_Ra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7" name="Rectangle 1036">
            <a:extLst>
              <a:ext uri="{FF2B5EF4-FFF2-40B4-BE49-F238E27FC236}">
                <a16:creationId xmlns:a16="http://schemas.microsoft.com/office/drawing/2014/main" id="{848F64AA-5BE2-4280-BEFA-DC288118FC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Bangladesh - Wikipedia">
            <a:extLst>
              <a:ext uri="{FF2B5EF4-FFF2-40B4-BE49-F238E27FC236}">
                <a16:creationId xmlns:a16="http://schemas.microsoft.com/office/drawing/2014/main" id="{1FEC4738-EB9B-D1E1-8F6C-6156F5F2FD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531" r="-2" b="3621"/>
          <a:stretch/>
        </p:blipFill>
        <p:spPr bwMode="auto">
          <a:xfrm>
            <a:off x="118916" y="71443"/>
            <a:ext cx="7534620" cy="4197368"/>
          </a:xfrm>
          <a:custGeom>
            <a:avLst/>
            <a:gdLst/>
            <a:ahLst/>
            <a:cxnLst/>
            <a:rect l="l" t="t" r="r" b="b"/>
            <a:pathLst>
              <a:path w="7534640" h="4197368">
                <a:moveTo>
                  <a:pt x="0" y="0"/>
                </a:moveTo>
                <a:lnTo>
                  <a:pt x="7534640" y="0"/>
                </a:lnTo>
                <a:lnTo>
                  <a:pt x="7534640" y="3832811"/>
                </a:lnTo>
                <a:lnTo>
                  <a:pt x="7344853" y="3826712"/>
                </a:lnTo>
                <a:cubicBezTo>
                  <a:pt x="7344853" y="3826712"/>
                  <a:pt x="7341511" y="3826712"/>
                  <a:pt x="7341511" y="3826712"/>
                </a:cubicBezTo>
                <a:cubicBezTo>
                  <a:pt x="7274667" y="3823370"/>
                  <a:pt x="7211169" y="3823370"/>
                  <a:pt x="7144324" y="3820027"/>
                </a:cubicBezTo>
                <a:cubicBezTo>
                  <a:pt x="6913719" y="3820027"/>
                  <a:pt x="6683113" y="3820027"/>
                  <a:pt x="6455848" y="3820027"/>
                </a:cubicBezTo>
                <a:cubicBezTo>
                  <a:pt x="6231926" y="3910265"/>
                  <a:pt x="5987951" y="3833396"/>
                  <a:pt x="5767372" y="3903581"/>
                </a:cubicBezTo>
                <a:cubicBezTo>
                  <a:pt x="5533423" y="3900239"/>
                  <a:pt x="5312845" y="3970423"/>
                  <a:pt x="5082238" y="4000503"/>
                </a:cubicBezTo>
                <a:cubicBezTo>
                  <a:pt x="4908446" y="4013871"/>
                  <a:pt x="4731314" y="3997160"/>
                  <a:pt x="4570892" y="4067345"/>
                </a:cubicBezTo>
                <a:cubicBezTo>
                  <a:pt x="4509063" y="4095753"/>
                  <a:pt x="4453918" y="4128339"/>
                  <a:pt x="4430941" y="4172622"/>
                </a:cubicBezTo>
                <a:lnTo>
                  <a:pt x="4423415" y="4197368"/>
                </a:lnTo>
                <a:lnTo>
                  <a:pt x="0" y="4197368"/>
                </a:lnTo>
                <a:close/>
              </a:path>
            </a:pathLst>
          </a:custGeom>
          <a:noFill/>
          <a:extLst>
            <a:ext uri="{909E8E84-426E-40DD-AFC4-6F175D3DCCD1}">
              <a14:hiddenFill xmlns:a14="http://schemas.microsoft.com/office/drawing/2010/main">
                <a:solidFill>
                  <a:srgbClr val="FFFFFF"/>
                </a:solidFill>
              </a14:hiddenFill>
            </a:ext>
          </a:extLst>
        </p:spPr>
      </p:pic>
      <p:pic>
        <p:nvPicPr>
          <p:cNvPr id="1028" name="Picture 4" descr="Divisions of Bangladesh - Wikipedia">
            <a:extLst>
              <a:ext uri="{FF2B5EF4-FFF2-40B4-BE49-F238E27FC236}">
                <a16:creationId xmlns:a16="http://schemas.microsoft.com/office/drawing/2014/main" id="{2930A2CE-842B-2F29-C600-98403CED9F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0638" r="2" b="27555"/>
          <a:stretch/>
        </p:blipFill>
        <p:spPr bwMode="auto">
          <a:xfrm>
            <a:off x="7653536" y="1"/>
            <a:ext cx="4538463" cy="3877247"/>
          </a:xfrm>
          <a:custGeom>
            <a:avLst/>
            <a:gdLst/>
            <a:ahLst/>
            <a:cxnLst/>
            <a:rect l="l" t="t" r="r" b="b"/>
            <a:pathLst>
              <a:path w="4538463" h="3877247">
                <a:moveTo>
                  <a:pt x="0" y="0"/>
                </a:moveTo>
                <a:lnTo>
                  <a:pt x="4538463" y="0"/>
                </a:lnTo>
                <a:lnTo>
                  <a:pt x="4538463" y="3437173"/>
                </a:lnTo>
                <a:lnTo>
                  <a:pt x="4530710" y="3429000"/>
                </a:lnTo>
                <a:cubicBezTo>
                  <a:pt x="4370289" y="3495842"/>
                  <a:pt x="4239946" y="3686344"/>
                  <a:pt x="4056129" y="3636211"/>
                </a:cubicBezTo>
                <a:cubicBezTo>
                  <a:pt x="3872313" y="3589422"/>
                  <a:pt x="3788760" y="3830055"/>
                  <a:pt x="3618310" y="3756528"/>
                </a:cubicBezTo>
                <a:cubicBezTo>
                  <a:pt x="3394389" y="3823371"/>
                  <a:pt x="3163783" y="3823371"/>
                  <a:pt x="2933176" y="3810002"/>
                </a:cubicBezTo>
                <a:cubicBezTo>
                  <a:pt x="2702570" y="3840081"/>
                  <a:pt x="2471962" y="3873503"/>
                  <a:pt x="2238015" y="3850107"/>
                </a:cubicBezTo>
                <a:cubicBezTo>
                  <a:pt x="2007408" y="3870161"/>
                  <a:pt x="1783486" y="3883529"/>
                  <a:pt x="1552880" y="3863476"/>
                </a:cubicBezTo>
                <a:cubicBezTo>
                  <a:pt x="1322274" y="3886870"/>
                  <a:pt x="1091667" y="3876844"/>
                  <a:pt x="864402" y="3860134"/>
                </a:cubicBezTo>
                <a:cubicBezTo>
                  <a:pt x="757455" y="3860134"/>
                  <a:pt x="653849" y="3856792"/>
                  <a:pt x="546902" y="3856792"/>
                </a:cubicBezTo>
                <a:cubicBezTo>
                  <a:pt x="404861" y="3850108"/>
                  <a:pt x="262821" y="3845095"/>
                  <a:pt x="120363" y="3840499"/>
                </a:cubicBezTo>
                <a:lnTo>
                  <a:pt x="0" y="3836632"/>
                </a:lnTo>
                <a:close/>
              </a:path>
            </a:pathLst>
          </a:custGeom>
          <a:noFill/>
          <a:extLst>
            <a:ext uri="{909E8E84-426E-40DD-AFC4-6F175D3DCCD1}">
              <a14:hiddenFill xmlns:a14="http://schemas.microsoft.com/office/drawing/2010/main">
                <a:solidFill>
                  <a:srgbClr val="FFFFFF"/>
                </a:solidFill>
              </a14:hiddenFill>
            </a:ext>
          </a:extLst>
        </p:spPr>
      </p:pic>
      <p:pic>
        <p:nvPicPr>
          <p:cNvPr id="1032" name="Picture 8" descr="Bangladesh: domestic turmoil and regional insecurity">
            <a:extLst>
              <a:ext uri="{FF2B5EF4-FFF2-40B4-BE49-F238E27FC236}">
                <a16:creationId xmlns:a16="http://schemas.microsoft.com/office/drawing/2014/main" id="{497549C9-6EFA-214A-32CB-A1A78EA366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25652" r="2" b="7962"/>
          <a:stretch/>
        </p:blipFill>
        <p:spPr bwMode="auto">
          <a:xfrm>
            <a:off x="0" y="4302171"/>
            <a:ext cx="6836850" cy="2541737"/>
          </a:xfrm>
          <a:custGeom>
            <a:avLst/>
            <a:gdLst/>
            <a:ahLst/>
            <a:cxnLst/>
            <a:rect l="l" t="t" r="r" b="b"/>
            <a:pathLst>
              <a:path w="6836850" h="2541737">
                <a:moveTo>
                  <a:pt x="0" y="0"/>
                </a:moveTo>
                <a:lnTo>
                  <a:pt x="4460098" y="0"/>
                </a:lnTo>
                <a:lnTo>
                  <a:pt x="4483996" y="31836"/>
                </a:lnTo>
                <a:cubicBezTo>
                  <a:pt x="4644419" y="28495"/>
                  <a:pt x="4627708" y="282495"/>
                  <a:pt x="4788129" y="245732"/>
                </a:cubicBezTo>
                <a:cubicBezTo>
                  <a:pt x="4754709" y="362707"/>
                  <a:pt x="4641076" y="302548"/>
                  <a:pt x="4600971" y="389443"/>
                </a:cubicBezTo>
                <a:cubicBezTo>
                  <a:pt x="4684524" y="462970"/>
                  <a:pt x="4844945" y="409497"/>
                  <a:pt x="4871683" y="563233"/>
                </a:cubicBezTo>
                <a:cubicBezTo>
                  <a:pt x="4838262" y="723655"/>
                  <a:pt x="4945210" y="703602"/>
                  <a:pt x="5032105" y="713629"/>
                </a:cubicBezTo>
                <a:cubicBezTo>
                  <a:pt x="5239317" y="733683"/>
                  <a:pt x="5439843" y="747050"/>
                  <a:pt x="5643713" y="780472"/>
                </a:cubicBezTo>
                <a:cubicBezTo>
                  <a:pt x="5693844" y="790498"/>
                  <a:pt x="5810819" y="767103"/>
                  <a:pt x="5800794" y="870709"/>
                </a:cubicBezTo>
                <a:cubicBezTo>
                  <a:pt x="5790767" y="954261"/>
                  <a:pt x="5700529" y="924184"/>
                  <a:pt x="5643713" y="927525"/>
                </a:cubicBezTo>
                <a:cubicBezTo>
                  <a:pt x="5329553" y="967632"/>
                  <a:pt x="5012052" y="904131"/>
                  <a:pt x="4701235" y="907472"/>
                </a:cubicBezTo>
                <a:cubicBezTo>
                  <a:pt x="4664472" y="907472"/>
                  <a:pt x="4657787" y="1017762"/>
                  <a:pt x="4577576" y="980999"/>
                </a:cubicBezTo>
                <a:cubicBezTo>
                  <a:pt x="4788129" y="1081263"/>
                  <a:pt x="5767372" y="1108001"/>
                  <a:pt x="6094900" y="1161474"/>
                </a:cubicBezTo>
                <a:cubicBezTo>
                  <a:pt x="5754004" y="1542477"/>
                  <a:pt x="5429817" y="1311870"/>
                  <a:pt x="5159105" y="1525765"/>
                </a:cubicBezTo>
                <a:cubicBezTo>
                  <a:pt x="5159105" y="1525765"/>
                  <a:pt x="5212580" y="1525765"/>
                  <a:pt x="5443187" y="1595950"/>
                </a:cubicBezTo>
                <a:cubicBezTo>
                  <a:pt x="5627002" y="1652765"/>
                  <a:pt x="5536765" y="1732976"/>
                  <a:pt x="6001321" y="1886715"/>
                </a:cubicBezTo>
                <a:cubicBezTo>
                  <a:pt x="5824188" y="1936846"/>
                  <a:pt x="5593581" y="1839925"/>
                  <a:pt x="5506685" y="2100610"/>
                </a:cubicBezTo>
                <a:cubicBezTo>
                  <a:pt x="5643713" y="2147401"/>
                  <a:pt x="5807477" y="2103953"/>
                  <a:pt x="5904398" y="2227611"/>
                </a:cubicBezTo>
                <a:cubicBezTo>
                  <a:pt x="5934478" y="2264375"/>
                  <a:pt x="5964557" y="2287770"/>
                  <a:pt x="6001321" y="2307821"/>
                </a:cubicBezTo>
                <a:cubicBezTo>
                  <a:pt x="5984612" y="2314507"/>
                  <a:pt x="5964557" y="2321190"/>
                  <a:pt x="5951188" y="2327874"/>
                </a:cubicBezTo>
                <a:cubicBezTo>
                  <a:pt x="5977925" y="2351271"/>
                  <a:pt x="6663060" y="2478270"/>
                  <a:pt x="6836850" y="2481613"/>
                </a:cubicBezTo>
                <a:cubicBezTo>
                  <a:pt x="6761652" y="2506679"/>
                  <a:pt x="6636845" y="2527828"/>
                  <a:pt x="6553814" y="2540165"/>
                </a:cubicBezTo>
                <a:lnTo>
                  <a:pt x="6542822" y="2541737"/>
                </a:lnTo>
                <a:lnTo>
                  <a:pt x="0" y="2541737"/>
                </a:lnTo>
                <a:close/>
              </a:path>
            </a:pathLst>
          </a:cu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D502014-6F31-6A25-5A48-75C724878FE3}"/>
              </a:ext>
            </a:extLst>
          </p:cNvPr>
          <p:cNvSpPr>
            <a:spLocks noGrp="1"/>
          </p:cNvSpPr>
          <p:nvPr>
            <p:ph type="ctrTitle"/>
          </p:nvPr>
        </p:nvSpPr>
        <p:spPr>
          <a:xfrm>
            <a:off x="6343650" y="3996130"/>
            <a:ext cx="5505814" cy="1576910"/>
          </a:xfrm>
        </p:spPr>
        <p:txBody>
          <a:bodyPr anchor="b">
            <a:normAutofit/>
          </a:bodyPr>
          <a:lstStyle/>
          <a:p>
            <a:pPr algn="l"/>
            <a:r>
              <a:rPr lang="en-US" sz="4400" dirty="0"/>
              <a:t>BANGLADESH</a:t>
            </a:r>
          </a:p>
        </p:txBody>
      </p:sp>
    </p:spTree>
    <p:extLst>
      <p:ext uri="{BB962C8B-B14F-4D97-AF65-F5344CB8AC3E}">
        <p14:creationId xmlns:p14="http://schemas.microsoft.com/office/powerpoint/2010/main" val="570830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1026"/>
                                        </p:tgtEl>
                                        <p:attrNameLst>
                                          <p:attrName>style.visibility</p:attrName>
                                        </p:attrNameLst>
                                      </p:cBhvr>
                                      <p:to>
                                        <p:strVal val="visible"/>
                                      </p:to>
                                    </p:set>
                                    <p:animEffect transition="in" filter="fade">
                                      <p:cBhvr>
                                        <p:cTn id="13" dur="1000"/>
                                        <p:tgtEl>
                                          <p:spTgt spid="1026"/>
                                        </p:tgtEl>
                                      </p:cBhvr>
                                    </p:animEffect>
                                    <p:anim calcmode="lin" valueType="num">
                                      <p:cBhvr>
                                        <p:cTn id="14" dur="1000" fill="hold"/>
                                        <p:tgtEl>
                                          <p:spTgt spid="1026"/>
                                        </p:tgtEl>
                                        <p:attrNameLst>
                                          <p:attrName>ppt_x</p:attrName>
                                        </p:attrNameLst>
                                      </p:cBhvr>
                                      <p:tavLst>
                                        <p:tav tm="0">
                                          <p:val>
                                            <p:strVal val="#ppt_x"/>
                                          </p:val>
                                        </p:tav>
                                        <p:tav tm="100000">
                                          <p:val>
                                            <p:strVal val="#ppt_x"/>
                                          </p:val>
                                        </p:tav>
                                      </p:tavLst>
                                    </p:anim>
                                    <p:anim calcmode="lin" valueType="num">
                                      <p:cBhvr>
                                        <p:cTn id="15"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1028"/>
                                        </p:tgtEl>
                                        <p:attrNameLst>
                                          <p:attrName>style.visibility</p:attrName>
                                        </p:attrNameLst>
                                      </p:cBhvr>
                                      <p:to>
                                        <p:strVal val="visible"/>
                                      </p:to>
                                    </p:set>
                                    <p:animEffect transition="in" filter="barn(inVertical)">
                                      <p:cBhvr>
                                        <p:cTn id="20" dur="500"/>
                                        <p:tgtEl>
                                          <p:spTgt spid="1028"/>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1032"/>
                                        </p:tgtEl>
                                        <p:attrNameLst>
                                          <p:attrName>style.visibility</p:attrName>
                                        </p:attrNameLst>
                                      </p:cBhvr>
                                      <p:to>
                                        <p:strVal val="visible"/>
                                      </p:to>
                                    </p:set>
                                    <p:anim calcmode="lin" valueType="num">
                                      <p:cBhvr>
                                        <p:cTn id="25" dur="1000" fill="hold"/>
                                        <p:tgtEl>
                                          <p:spTgt spid="1032"/>
                                        </p:tgtEl>
                                        <p:attrNameLst>
                                          <p:attrName>ppt_w</p:attrName>
                                        </p:attrNameLst>
                                      </p:cBhvr>
                                      <p:tavLst>
                                        <p:tav tm="0">
                                          <p:val>
                                            <p:fltVal val="0"/>
                                          </p:val>
                                        </p:tav>
                                        <p:tav tm="100000">
                                          <p:val>
                                            <p:strVal val="#ppt_w"/>
                                          </p:val>
                                        </p:tav>
                                      </p:tavLst>
                                    </p:anim>
                                    <p:anim calcmode="lin" valueType="num">
                                      <p:cBhvr>
                                        <p:cTn id="26" dur="1000" fill="hold"/>
                                        <p:tgtEl>
                                          <p:spTgt spid="1032"/>
                                        </p:tgtEl>
                                        <p:attrNameLst>
                                          <p:attrName>ppt_h</p:attrName>
                                        </p:attrNameLst>
                                      </p:cBhvr>
                                      <p:tavLst>
                                        <p:tav tm="0">
                                          <p:val>
                                            <p:fltVal val="0"/>
                                          </p:val>
                                        </p:tav>
                                        <p:tav tm="100000">
                                          <p:val>
                                            <p:strVal val="#ppt_h"/>
                                          </p:val>
                                        </p:tav>
                                      </p:tavLst>
                                    </p:anim>
                                    <p:anim calcmode="lin" valueType="num">
                                      <p:cBhvr>
                                        <p:cTn id="27" dur="1000" fill="hold"/>
                                        <p:tgtEl>
                                          <p:spTgt spid="1032"/>
                                        </p:tgtEl>
                                        <p:attrNameLst>
                                          <p:attrName>style.rotation</p:attrName>
                                        </p:attrNameLst>
                                      </p:cBhvr>
                                      <p:tavLst>
                                        <p:tav tm="0">
                                          <p:val>
                                            <p:fltVal val="90"/>
                                          </p:val>
                                        </p:tav>
                                        <p:tav tm="100000">
                                          <p:val>
                                            <p:fltVal val="0"/>
                                          </p:val>
                                        </p:tav>
                                      </p:tavLst>
                                    </p:anim>
                                    <p:animEffect transition="in" filter="fade">
                                      <p:cBhvr>
                                        <p:cTn id="28" dur="1000"/>
                                        <p:tgtEl>
                                          <p:spTgt spid="10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BA2B6-782A-22B9-FF1F-C64CE3364A6D}"/>
              </a:ext>
            </a:extLst>
          </p:cNvPr>
          <p:cNvSpPr>
            <a:spLocks noGrp="1"/>
          </p:cNvSpPr>
          <p:nvPr>
            <p:ph type="title"/>
          </p:nvPr>
        </p:nvSpPr>
        <p:spPr/>
        <p:txBody>
          <a:bodyPr/>
          <a:lstStyle/>
          <a:p>
            <a:r>
              <a:rPr lang="en-US" b="1" i="1" dirty="0">
                <a:solidFill>
                  <a:srgbClr val="00B050"/>
                </a:solidFill>
              </a:rPr>
              <a:t>About</a:t>
            </a:r>
            <a:r>
              <a:rPr lang="en-US" b="1" i="1" dirty="0"/>
              <a:t> </a:t>
            </a:r>
            <a:r>
              <a:rPr lang="en-US" b="1" i="1" dirty="0">
                <a:solidFill>
                  <a:srgbClr val="FF0000"/>
                </a:solidFill>
              </a:rPr>
              <a:t>Bangladesh</a:t>
            </a:r>
          </a:p>
        </p:txBody>
      </p:sp>
      <p:sp>
        <p:nvSpPr>
          <p:cNvPr id="3" name="Content Placeholder 2">
            <a:extLst>
              <a:ext uri="{FF2B5EF4-FFF2-40B4-BE49-F238E27FC236}">
                <a16:creationId xmlns:a16="http://schemas.microsoft.com/office/drawing/2014/main" id="{895CF0D3-CAD2-B0DD-8441-0D4A6C73E303}"/>
              </a:ext>
            </a:extLst>
          </p:cNvPr>
          <p:cNvSpPr>
            <a:spLocks noGrp="1"/>
          </p:cNvSpPr>
          <p:nvPr>
            <p:ph idx="1"/>
          </p:nvPr>
        </p:nvSpPr>
        <p:spPr/>
        <p:txBody>
          <a:bodyPr>
            <a:normAutofit fontScale="92500" lnSpcReduction="10000"/>
          </a:bodyPr>
          <a:lstStyle/>
          <a:p>
            <a:r>
              <a:rPr lang="en-US" b="1" i="0" dirty="0">
                <a:solidFill>
                  <a:srgbClr val="00B0F0"/>
                </a:solidFill>
                <a:effectLst/>
              </a:rPr>
              <a:t>Bangladesh</a:t>
            </a:r>
            <a:r>
              <a:rPr lang="en-US" b="0" i="0" dirty="0">
                <a:solidFill>
                  <a:srgbClr val="00B0F0"/>
                </a:solidFill>
                <a:effectLst/>
              </a:rPr>
              <a:t>,</a:t>
            </a:r>
            <a:r>
              <a:rPr lang="en-US" b="0" i="0" u="none" strike="noStrike" baseline="30000" dirty="0">
                <a:solidFill>
                  <a:srgbClr val="00B0F0"/>
                </a:solidFill>
                <a:effectLst/>
                <a:hlinkClick r:id="rId2">
                  <a:extLst>
                    <a:ext uri="{A12FA001-AC4F-418D-AE19-62706E023703}">
                      <ahyp:hlinkClr xmlns:ahyp="http://schemas.microsoft.com/office/drawing/2018/hyperlinkcolor" val="tx"/>
                    </a:ext>
                  </a:extLst>
                </a:hlinkClick>
              </a:rPr>
              <a:t>[a]</a:t>
            </a:r>
            <a:r>
              <a:rPr lang="en-US" b="0" i="0" dirty="0">
                <a:solidFill>
                  <a:srgbClr val="00B0F0"/>
                </a:solidFill>
                <a:effectLst/>
              </a:rPr>
              <a:t> officially the </a:t>
            </a:r>
            <a:r>
              <a:rPr lang="en-US" b="1" i="0" dirty="0">
                <a:solidFill>
                  <a:srgbClr val="00B0F0"/>
                </a:solidFill>
                <a:effectLst/>
              </a:rPr>
              <a:t>People's Republic of Bangladesh</a:t>
            </a:r>
            <a:r>
              <a:rPr lang="en-US" b="0" i="0" dirty="0">
                <a:solidFill>
                  <a:srgbClr val="00B0F0"/>
                </a:solidFill>
                <a:effectLst/>
              </a:rPr>
              <a:t>,</a:t>
            </a:r>
            <a:r>
              <a:rPr lang="en-US" b="0" i="0" u="none" strike="noStrike" baseline="30000" dirty="0">
                <a:solidFill>
                  <a:srgbClr val="00B0F0"/>
                </a:solidFill>
                <a:effectLst/>
                <a:hlinkClick r:id="rId3">
                  <a:extLst>
                    <a:ext uri="{A12FA001-AC4F-418D-AE19-62706E023703}">
                      <ahyp:hlinkClr xmlns:ahyp="http://schemas.microsoft.com/office/drawing/2018/hyperlinkcolor" val="tx"/>
                    </a:ext>
                  </a:extLst>
                </a:hlinkClick>
              </a:rPr>
              <a:t>[b]</a:t>
            </a:r>
            <a:r>
              <a:rPr lang="en-US" b="0" i="0" dirty="0">
                <a:solidFill>
                  <a:srgbClr val="00B0F0"/>
                </a:solidFill>
                <a:effectLst/>
              </a:rPr>
              <a:t> is a country in </a:t>
            </a:r>
            <a:r>
              <a:rPr lang="en-US" b="0" i="0" u="none" strike="noStrike" dirty="0">
                <a:solidFill>
                  <a:srgbClr val="00B0F0"/>
                </a:solidFill>
                <a:effectLst/>
                <a:hlinkClick r:id="rId4" tooltip="South Asia">
                  <a:extLst>
                    <a:ext uri="{A12FA001-AC4F-418D-AE19-62706E023703}">
                      <ahyp:hlinkClr xmlns:ahyp="http://schemas.microsoft.com/office/drawing/2018/hyperlinkcolor" val="tx"/>
                    </a:ext>
                  </a:extLst>
                </a:hlinkClick>
              </a:rPr>
              <a:t>South Asia</a:t>
            </a:r>
            <a:r>
              <a:rPr lang="en-US" b="0" i="0" dirty="0">
                <a:solidFill>
                  <a:srgbClr val="00B0F0"/>
                </a:solidFill>
                <a:effectLst/>
              </a:rPr>
              <a:t>. It is the </a:t>
            </a:r>
            <a:r>
              <a:rPr lang="en-US" b="0" i="0" u="none" strike="noStrike" dirty="0">
                <a:solidFill>
                  <a:srgbClr val="00B0F0"/>
                </a:solidFill>
                <a:effectLst/>
                <a:hlinkClick r:id="rId5" tooltip="List of countries and dependencies by population">
                  <a:extLst>
                    <a:ext uri="{A12FA001-AC4F-418D-AE19-62706E023703}">
                      <ahyp:hlinkClr xmlns:ahyp="http://schemas.microsoft.com/office/drawing/2018/hyperlinkcolor" val="tx"/>
                    </a:ext>
                  </a:extLst>
                </a:hlinkClick>
              </a:rPr>
              <a:t>eighth-most populous country</a:t>
            </a:r>
            <a:r>
              <a:rPr lang="en-US" b="0" i="0" dirty="0">
                <a:solidFill>
                  <a:srgbClr val="00B0F0"/>
                </a:solidFill>
                <a:effectLst/>
              </a:rPr>
              <a:t> in the world and among the </a:t>
            </a:r>
            <a:r>
              <a:rPr lang="en-US" b="0" i="0" u="none" strike="noStrike" dirty="0">
                <a:solidFill>
                  <a:srgbClr val="00B0F0"/>
                </a:solidFill>
                <a:effectLst/>
                <a:hlinkClick r:id="rId6" tooltip="List of countries and dependencies by population density">
                  <a:extLst>
                    <a:ext uri="{A12FA001-AC4F-418D-AE19-62706E023703}">
                      <ahyp:hlinkClr xmlns:ahyp="http://schemas.microsoft.com/office/drawing/2018/hyperlinkcolor" val="tx"/>
                    </a:ext>
                  </a:extLst>
                </a:hlinkClick>
              </a:rPr>
              <a:t>most densely populated</a:t>
            </a:r>
            <a:r>
              <a:rPr lang="en-US" b="0" i="0" dirty="0">
                <a:solidFill>
                  <a:srgbClr val="00B0F0"/>
                </a:solidFill>
                <a:effectLst/>
              </a:rPr>
              <a:t> with a population exceeding 170 million within an area of 148,460 square </a:t>
            </a:r>
            <a:r>
              <a:rPr lang="en-US" b="0" i="0" dirty="0" err="1">
                <a:solidFill>
                  <a:srgbClr val="00B0F0"/>
                </a:solidFill>
                <a:effectLst/>
              </a:rPr>
              <a:t>kilometres</a:t>
            </a:r>
            <a:r>
              <a:rPr lang="en-US" b="0" i="0" dirty="0">
                <a:solidFill>
                  <a:srgbClr val="00B0F0"/>
                </a:solidFill>
                <a:effectLst/>
              </a:rPr>
              <a:t> (57,320 sq mi). Bangladesh shares land borders with </a:t>
            </a:r>
            <a:r>
              <a:rPr lang="en-US" b="0" i="0" u="none" strike="noStrike" dirty="0">
                <a:solidFill>
                  <a:srgbClr val="00B0F0"/>
                </a:solidFill>
                <a:effectLst/>
                <a:hlinkClick r:id="rId7" tooltip="India">
                  <a:extLst>
                    <a:ext uri="{A12FA001-AC4F-418D-AE19-62706E023703}">
                      <ahyp:hlinkClr xmlns:ahyp="http://schemas.microsoft.com/office/drawing/2018/hyperlinkcolor" val="tx"/>
                    </a:ext>
                  </a:extLst>
                </a:hlinkClick>
              </a:rPr>
              <a:t>India</a:t>
            </a:r>
            <a:r>
              <a:rPr lang="en-US" b="0" i="0" dirty="0">
                <a:solidFill>
                  <a:srgbClr val="00B0F0"/>
                </a:solidFill>
                <a:effectLst/>
              </a:rPr>
              <a:t> to the north, west, and east, and </a:t>
            </a:r>
            <a:r>
              <a:rPr lang="en-US" b="0" i="0" u="none" strike="noStrike" dirty="0">
                <a:solidFill>
                  <a:srgbClr val="00B0F0"/>
                </a:solidFill>
                <a:effectLst/>
                <a:hlinkClick r:id="rId8" tooltip="Myanmar">
                  <a:extLst>
                    <a:ext uri="{A12FA001-AC4F-418D-AE19-62706E023703}">
                      <ahyp:hlinkClr xmlns:ahyp="http://schemas.microsoft.com/office/drawing/2018/hyperlinkcolor" val="tx"/>
                    </a:ext>
                  </a:extLst>
                </a:hlinkClick>
              </a:rPr>
              <a:t>Myanmar</a:t>
            </a:r>
            <a:r>
              <a:rPr lang="en-US" b="0" i="0" dirty="0">
                <a:solidFill>
                  <a:srgbClr val="00B0F0"/>
                </a:solidFill>
                <a:effectLst/>
              </a:rPr>
              <a:t> to the southeast. To the south, it has a coastline along the </a:t>
            </a:r>
            <a:r>
              <a:rPr lang="en-US" b="0" i="0" u="none" strike="noStrike" dirty="0">
                <a:solidFill>
                  <a:srgbClr val="00B0F0"/>
                </a:solidFill>
                <a:effectLst/>
                <a:hlinkClick r:id="rId9" tooltip="Bay of Bengal">
                  <a:extLst>
                    <a:ext uri="{A12FA001-AC4F-418D-AE19-62706E023703}">
                      <ahyp:hlinkClr xmlns:ahyp="http://schemas.microsoft.com/office/drawing/2018/hyperlinkcolor" val="tx"/>
                    </a:ext>
                  </a:extLst>
                </a:hlinkClick>
              </a:rPr>
              <a:t>Bay of Bengal</a:t>
            </a:r>
            <a:r>
              <a:rPr lang="en-US" b="0" i="0" dirty="0">
                <a:solidFill>
                  <a:srgbClr val="00B0F0"/>
                </a:solidFill>
                <a:effectLst/>
              </a:rPr>
              <a:t>. To the north, it is separated from </a:t>
            </a:r>
            <a:r>
              <a:rPr lang="en-US" b="0" i="0" u="none" strike="noStrike" dirty="0">
                <a:solidFill>
                  <a:srgbClr val="00B0F0"/>
                </a:solidFill>
                <a:effectLst/>
                <a:hlinkClick r:id="rId10" tooltip="Bhutan">
                  <a:extLst>
                    <a:ext uri="{A12FA001-AC4F-418D-AE19-62706E023703}">
                      <ahyp:hlinkClr xmlns:ahyp="http://schemas.microsoft.com/office/drawing/2018/hyperlinkcolor" val="tx"/>
                    </a:ext>
                  </a:extLst>
                </a:hlinkClick>
              </a:rPr>
              <a:t>Bhutan</a:t>
            </a:r>
            <a:r>
              <a:rPr lang="en-US" b="0" i="0" dirty="0">
                <a:solidFill>
                  <a:srgbClr val="00B0F0"/>
                </a:solidFill>
                <a:effectLst/>
              </a:rPr>
              <a:t> and </a:t>
            </a:r>
            <a:r>
              <a:rPr lang="en-US" b="0" i="0" u="none" strike="noStrike" dirty="0">
                <a:solidFill>
                  <a:srgbClr val="00B0F0"/>
                </a:solidFill>
                <a:effectLst/>
                <a:hlinkClick r:id="rId11" tooltip="Nepal">
                  <a:extLst>
                    <a:ext uri="{A12FA001-AC4F-418D-AE19-62706E023703}">
                      <ahyp:hlinkClr xmlns:ahyp="http://schemas.microsoft.com/office/drawing/2018/hyperlinkcolor" val="tx"/>
                    </a:ext>
                  </a:extLst>
                </a:hlinkClick>
              </a:rPr>
              <a:t>Nepal</a:t>
            </a:r>
            <a:r>
              <a:rPr lang="en-US" b="0" i="0" dirty="0">
                <a:solidFill>
                  <a:srgbClr val="00B0F0"/>
                </a:solidFill>
                <a:effectLst/>
              </a:rPr>
              <a:t> by the </a:t>
            </a:r>
            <a:r>
              <a:rPr lang="en-US" b="0" i="0" u="none" strike="noStrike" dirty="0">
                <a:solidFill>
                  <a:srgbClr val="00B0F0"/>
                </a:solidFill>
                <a:effectLst/>
                <a:hlinkClick r:id="rId12" tooltip="Siliguri Corridor">
                  <a:extLst>
                    <a:ext uri="{A12FA001-AC4F-418D-AE19-62706E023703}">
                      <ahyp:hlinkClr xmlns:ahyp="http://schemas.microsoft.com/office/drawing/2018/hyperlinkcolor" val="tx"/>
                    </a:ext>
                  </a:extLst>
                </a:hlinkClick>
              </a:rPr>
              <a:t>Siliguri Corridor</a:t>
            </a:r>
            <a:r>
              <a:rPr lang="en-US" b="0" i="0" dirty="0">
                <a:solidFill>
                  <a:srgbClr val="00B0F0"/>
                </a:solidFill>
                <a:effectLst/>
              </a:rPr>
              <a:t>, and from </a:t>
            </a:r>
            <a:r>
              <a:rPr lang="en-US" b="0" i="0" u="none" strike="noStrike" dirty="0">
                <a:solidFill>
                  <a:srgbClr val="00B0F0"/>
                </a:solidFill>
                <a:effectLst/>
                <a:hlinkClick r:id="rId13" tooltip="China">
                  <a:extLst>
                    <a:ext uri="{A12FA001-AC4F-418D-AE19-62706E023703}">
                      <ahyp:hlinkClr xmlns:ahyp="http://schemas.microsoft.com/office/drawing/2018/hyperlinkcolor" val="tx"/>
                    </a:ext>
                  </a:extLst>
                </a:hlinkClick>
              </a:rPr>
              <a:t>China</a:t>
            </a:r>
            <a:r>
              <a:rPr lang="en-US" b="0" i="0" dirty="0">
                <a:solidFill>
                  <a:srgbClr val="00B0F0"/>
                </a:solidFill>
                <a:effectLst/>
              </a:rPr>
              <a:t> by the mountainous Indian state of </a:t>
            </a:r>
            <a:r>
              <a:rPr lang="en-US" b="0" i="0" u="none" strike="noStrike" dirty="0">
                <a:solidFill>
                  <a:srgbClr val="00B0F0"/>
                </a:solidFill>
                <a:effectLst/>
                <a:hlinkClick r:id="rId14" tooltip="Sikkim">
                  <a:extLst>
                    <a:ext uri="{A12FA001-AC4F-418D-AE19-62706E023703}">
                      <ahyp:hlinkClr xmlns:ahyp="http://schemas.microsoft.com/office/drawing/2018/hyperlinkcolor" val="tx"/>
                    </a:ext>
                  </a:extLst>
                </a:hlinkClick>
              </a:rPr>
              <a:t>Sikkim</a:t>
            </a:r>
            <a:r>
              <a:rPr lang="en-US" b="0" i="0" dirty="0">
                <a:solidFill>
                  <a:srgbClr val="00B0F0"/>
                </a:solidFill>
                <a:effectLst/>
              </a:rPr>
              <a:t>. </a:t>
            </a:r>
            <a:r>
              <a:rPr lang="en-US" b="0" i="0" u="none" strike="noStrike" dirty="0">
                <a:solidFill>
                  <a:srgbClr val="00B0F0"/>
                </a:solidFill>
                <a:effectLst/>
                <a:hlinkClick r:id="rId15" tooltip="Dhaka">
                  <a:extLst>
                    <a:ext uri="{A12FA001-AC4F-418D-AE19-62706E023703}">
                      <ahyp:hlinkClr xmlns:ahyp="http://schemas.microsoft.com/office/drawing/2018/hyperlinkcolor" val="tx"/>
                    </a:ext>
                  </a:extLst>
                </a:hlinkClick>
              </a:rPr>
              <a:t>Dhaka</a:t>
            </a:r>
            <a:r>
              <a:rPr lang="en-US" b="0" i="0" dirty="0">
                <a:solidFill>
                  <a:srgbClr val="00B0F0"/>
                </a:solidFill>
                <a:effectLst/>
              </a:rPr>
              <a:t>, the capital and </a:t>
            </a:r>
            <a:r>
              <a:rPr lang="en-US" b="0" i="0" u="none" strike="noStrike" dirty="0">
                <a:solidFill>
                  <a:srgbClr val="00B0F0"/>
                </a:solidFill>
                <a:effectLst/>
                <a:hlinkClick r:id="rId16" tooltip="List of cities and towns in Bangladesh">
                  <a:extLst>
                    <a:ext uri="{A12FA001-AC4F-418D-AE19-62706E023703}">
                      <ahyp:hlinkClr xmlns:ahyp="http://schemas.microsoft.com/office/drawing/2018/hyperlinkcolor" val="tx"/>
                    </a:ext>
                  </a:extLst>
                </a:hlinkClick>
              </a:rPr>
              <a:t>largest city</a:t>
            </a:r>
            <a:r>
              <a:rPr lang="en-US" b="0" i="0" dirty="0">
                <a:solidFill>
                  <a:srgbClr val="00B0F0"/>
                </a:solidFill>
                <a:effectLst/>
              </a:rPr>
              <a:t>, is the nation's political, financial, and cultural </a:t>
            </a:r>
            <a:r>
              <a:rPr lang="en-US" b="0" i="0" dirty="0" err="1">
                <a:solidFill>
                  <a:srgbClr val="00B0F0"/>
                </a:solidFill>
                <a:effectLst/>
              </a:rPr>
              <a:t>centre</a:t>
            </a:r>
            <a:r>
              <a:rPr lang="en-US" b="0" i="0" dirty="0">
                <a:solidFill>
                  <a:srgbClr val="00B0F0"/>
                </a:solidFill>
                <a:effectLst/>
              </a:rPr>
              <a:t>. </a:t>
            </a:r>
            <a:r>
              <a:rPr lang="en-US" b="0" i="0" u="none" strike="noStrike" dirty="0">
                <a:solidFill>
                  <a:srgbClr val="00B0F0"/>
                </a:solidFill>
                <a:effectLst/>
                <a:hlinkClick r:id="rId17" tooltip="Chittagong">
                  <a:extLst>
                    <a:ext uri="{A12FA001-AC4F-418D-AE19-62706E023703}">
                      <ahyp:hlinkClr xmlns:ahyp="http://schemas.microsoft.com/office/drawing/2018/hyperlinkcolor" val="tx"/>
                    </a:ext>
                  </a:extLst>
                </a:hlinkClick>
              </a:rPr>
              <a:t>Chittagong</a:t>
            </a:r>
            <a:r>
              <a:rPr lang="en-US" b="0" i="0" dirty="0">
                <a:solidFill>
                  <a:srgbClr val="00B0F0"/>
                </a:solidFill>
                <a:effectLst/>
              </a:rPr>
              <a:t> is the second-largest city and the busiest port of the country. The official language is </a:t>
            </a:r>
            <a:r>
              <a:rPr lang="en-US" b="0" i="0" u="none" strike="noStrike" dirty="0">
                <a:solidFill>
                  <a:srgbClr val="00B0F0"/>
                </a:solidFill>
                <a:effectLst/>
                <a:hlinkClick r:id="rId18" tooltip="Bengali language">
                  <a:extLst>
                    <a:ext uri="{A12FA001-AC4F-418D-AE19-62706E023703}">
                      <ahyp:hlinkClr xmlns:ahyp="http://schemas.microsoft.com/office/drawing/2018/hyperlinkcolor" val="tx"/>
                    </a:ext>
                  </a:extLst>
                </a:hlinkClick>
              </a:rPr>
              <a:t>Bengali</a:t>
            </a:r>
            <a:r>
              <a:rPr lang="en-US" b="0" i="0" dirty="0">
                <a:solidFill>
                  <a:srgbClr val="00B0F0"/>
                </a:solidFill>
                <a:effectLst/>
              </a:rPr>
              <a:t>. </a:t>
            </a:r>
            <a:r>
              <a:rPr lang="en-US" b="0" i="0" u="none" strike="noStrike" dirty="0">
                <a:solidFill>
                  <a:srgbClr val="00B0F0"/>
                </a:solidFill>
                <a:effectLst/>
                <a:hlinkClick r:id="rId19" tooltip="Islam in Bangladesh">
                  <a:extLst>
                    <a:ext uri="{A12FA001-AC4F-418D-AE19-62706E023703}">
                      <ahyp:hlinkClr xmlns:ahyp="http://schemas.microsoft.com/office/drawing/2018/hyperlinkcolor" val="tx"/>
                    </a:ext>
                  </a:extLst>
                </a:hlinkClick>
              </a:rPr>
              <a:t>Islam</a:t>
            </a:r>
            <a:r>
              <a:rPr lang="en-US" b="0" i="0" dirty="0">
                <a:solidFill>
                  <a:srgbClr val="00B0F0"/>
                </a:solidFill>
                <a:effectLst/>
              </a:rPr>
              <a:t> is the official and </a:t>
            </a:r>
            <a:r>
              <a:rPr lang="en-US" b="0" i="0" u="none" strike="noStrike" dirty="0">
                <a:solidFill>
                  <a:srgbClr val="00B0F0"/>
                </a:solidFill>
                <a:effectLst/>
                <a:hlinkClick r:id="rId20" tooltip="Religion in Bangladesh">
                  <a:extLst>
                    <a:ext uri="{A12FA001-AC4F-418D-AE19-62706E023703}">
                      <ahyp:hlinkClr xmlns:ahyp="http://schemas.microsoft.com/office/drawing/2018/hyperlinkcolor" val="tx"/>
                    </a:ext>
                  </a:extLst>
                </a:hlinkClick>
              </a:rPr>
              <a:t>largest religion</a:t>
            </a:r>
            <a:r>
              <a:rPr lang="en-US" b="0" i="0" dirty="0">
                <a:solidFill>
                  <a:srgbClr val="00B0F0"/>
                </a:solidFill>
                <a:effectLst/>
              </a:rPr>
              <a:t> and </a:t>
            </a:r>
            <a:r>
              <a:rPr lang="en-US" b="0" i="0" u="none" strike="noStrike" dirty="0">
                <a:solidFill>
                  <a:srgbClr val="00B0F0"/>
                </a:solidFill>
                <a:effectLst/>
                <a:hlinkClick r:id="rId21" tooltip="Bengali Muslim">
                  <a:extLst>
                    <a:ext uri="{A12FA001-AC4F-418D-AE19-62706E023703}">
                      <ahyp:hlinkClr xmlns:ahyp="http://schemas.microsoft.com/office/drawing/2018/hyperlinkcolor" val="tx"/>
                    </a:ext>
                  </a:extLst>
                </a:hlinkClick>
              </a:rPr>
              <a:t>Bengali Muslims</a:t>
            </a:r>
            <a:r>
              <a:rPr lang="en-US" b="0" i="0" dirty="0">
                <a:solidFill>
                  <a:srgbClr val="00B0F0"/>
                </a:solidFill>
                <a:effectLst/>
              </a:rPr>
              <a:t> form the largest </a:t>
            </a:r>
            <a:r>
              <a:rPr lang="en-US" b="0" i="0" u="none" strike="noStrike" dirty="0">
                <a:solidFill>
                  <a:srgbClr val="00B0F0"/>
                </a:solidFill>
                <a:effectLst/>
                <a:hlinkClick r:id="rId22" tooltip="Ethnoreligious group">
                  <a:extLst>
                    <a:ext uri="{A12FA001-AC4F-418D-AE19-62706E023703}">
                      <ahyp:hlinkClr xmlns:ahyp="http://schemas.microsoft.com/office/drawing/2018/hyperlinkcolor" val="tx"/>
                    </a:ext>
                  </a:extLst>
                </a:hlinkClick>
              </a:rPr>
              <a:t>ethnoreligious group</a:t>
            </a:r>
            <a:r>
              <a:rPr lang="en-US" b="0" i="0" dirty="0">
                <a:solidFill>
                  <a:srgbClr val="00B0F0"/>
                </a:solidFill>
                <a:effectLst/>
              </a:rPr>
              <a:t> in the country.</a:t>
            </a:r>
            <a:endParaRPr lang="en-US" dirty="0">
              <a:solidFill>
                <a:srgbClr val="00B0F0"/>
              </a:solidFill>
            </a:endParaRPr>
          </a:p>
        </p:txBody>
      </p:sp>
    </p:spTree>
    <p:extLst>
      <p:ext uri="{BB962C8B-B14F-4D97-AF65-F5344CB8AC3E}">
        <p14:creationId xmlns:p14="http://schemas.microsoft.com/office/powerpoint/2010/main" val="4076711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4"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B49A7-27F4-4424-B9B9-A85D6AFC6B33}"/>
              </a:ext>
            </a:extLst>
          </p:cNvPr>
          <p:cNvSpPr>
            <a:spLocks noGrp="1"/>
          </p:cNvSpPr>
          <p:nvPr>
            <p:ph type="title"/>
          </p:nvPr>
        </p:nvSpPr>
        <p:spPr/>
        <p:txBody>
          <a:bodyPr/>
          <a:lstStyle/>
          <a:p>
            <a:r>
              <a:rPr lang="en-US" dirty="0">
                <a:solidFill>
                  <a:srgbClr val="0070C0"/>
                </a:solidFill>
              </a:rPr>
              <a:t>Division of Bangladesh :</a:t>
            </a:r>
          </a:p>
        </p:txBody>
      </p:sp>
      <p:sp>
        <p:nvSpPr>
          <p:cNvPr id="3" name="Content Placeholder 2">
            <a:extLst>
              <a:ext uri="{FF2B5EF4-FFF2-40B4-BE49-F238E27FC236}">
                <a16:creationId xmlns:a16="http://schemas.microsoft.com/office/drawing/2014/main" id="{771200E9-3E6F-2A16-495F-1CE60AF64F27}"/>
              </a:ext>
            </a:extLst>
          </p:cNvPr>
          <p:cNvSpPr>
            <a:spLocks noGrp="1"/>
          </p:cNvSpPr>
          <p:nvPr>
            <p:ph idx="1"/>
          </p:nvPr>
        </p:nvSpPr>
        <p:spPr/>
        <p:txBody>
          <a:bodyPr>
            <a:normAutofit fontScale="92500" lnSpcReduction="10000"/>
          </a:bodyPr>
          <a:lstStyle/>
          <a:p>
            <a:r>
              <a:rPr lang="en-US" dirty="0">
                <a:solidFill>
                  <a:srgbClr val="92D050"/>
                </a:solidFill>
              </a:rPr>
              <a:t>The administrative structure of Bangladesh currently comprises eight divisions (Bengali: </a:t>
            </a:r>
            <a:r>
              <a:rPr lang="en-US" dirty="0" err="1">
                <a:solidFill>
                  <a:srgbClr val="92D050"/>
                </a:solidFill>
              </a:rPr>
              <a:t>bibhag</a:t>
            </a:r>
            <a:r>
              <a:rPr lang="en-US" dirty="0">
                <a:solidFill>
                  <a:srgbClr val="92D050"/>
                </a:solidFill>
              </a:rPr>
              <a:t>) at first- order administrative level (ADM1)8:</a:t>
            </a:r>
          </a:p>
          <a:p>
            <a:pPr marL="514350" indent="-514350">
              <a:buFont typeface="+mj-lt"/>
              <a:buAutoNum type="arabicPeriod"/>
            </a:pPr>
            <a:r>
              <a:rPr lang="en-US" dirty="0">
                <a:solidFill>
                  <a:srgbClr val="FF3399"/>
                </a:solidFill>
              </a:rPr>
              <a:t> Barishal</a:t>
            </a:r>
          </a:p>
          <a:p>
            <a:pPr marL="514350" indent="-514350">
              <a:buFont typeface="+mj-lt"/>
              <a:buAutoNum type="arabicPeriod"/>
            </a:pPr>
            <a:r>
              <a:rPr lang="en-US" dirty="0">
                <a:solidFill>
                  <a:srgbClr val="0000FF"/>
                </a:solidFill>
              </a:rPr>
              <a:t>Chattogram</a:t>
            </a:r>
          </a:p>
          <a:p>
            <a:pPr marL="514350" indent="-514350">
              <a:buFont typeface="+mj-lt"/>
              <a:buAutoNum type="arabicPeriod"/>
            </a:pPr>
            <a:r>
              <a:rPr lang="en-US" dirty="0">
                <a:solidFill>
                  <a:srgbClr val="660066"/>
                </a:solidFill>
              </a:rPr>
              <a:t>Dhaka</a:t>
            </a:r>
          </a:p>
          <a:p>
            <a:pPr marL="514350" indent="-514350">
              <a:buFont typeface="+mj-lt"/>
              <a:buAutoNum type="arabicPeriod"/>
            </a:pPr>
            <a:r>
              <a:rPr lang="en-US" dirty="0">
                <a:solidFill>
                  <a:srgbClr val="00CC00"/>
                </a:solidFill>
              </a:rPr>
              <a:t> Khulna</a:t>
            </a:r>
          </a:p>
          <a:p>
            <a:pPr marL="514350" indent="-514350">
              <a:buFont typeface="+mj-lt"/>
              <a:buAutoNum type="arabicPeriod"/>
            </a:pPr>
            <a:r>
              <a:rPr lang="en-US" dirty="0">
                <a:solidFill>
                  <a:schemeClr val="accent2"/>
                </a:solidFill>
              </a:rPr>
              <a:t> </a:t>
            </a:r>
            <a:r>
              <a:rPr lang="en-US" dirty="0" err="1">
                <a:solidFill>
                  <a:schemeClr val="accent2"/>
                </a:solidFill>
              </a:rPr>
              <a:t>Rajshahi</a:t>
            </a:r>
            <a:endParaRPr lang="en-US" dirty="0">
              <a:solidFill>
                <a:schemeClr val="accent2"/>
              </a:solidFill>
            </a:endParaRPr>
          </a:p>
          <a:p>
            <a:pPr marL="514350" indent="-514350">
              <a:buFont typeface="+mj-lt"/>
              <a:buAutoNum type="arabicPeriod"/>
            </a:pPr>
            <a:r>
              <a:rPr lang="en-US" dirty="0">
                <a:solidFill>
                  <a:srgbClr val="0000FF"/>
                </a:solidFill>
              </a:rPr>
              <a:t>Rangpur</a:t>
            </a:r>
          </a:p>
          <a:p>
            <a:pPr marL="514350" indent="-514350">
              <a:buFont typeface="+mj-lt"/>
              <a:buAutoNum type="arabicPeriod"/>
            </a:pPr>
            <a:r>
              <a:rPr lang="en-US" dirty="0">
                <a:solidFill>
                  <a:srgbClr val="660066"/>
                </a:solidFill>
              </a:rPr>
              <a:t> Mymensingh and </a:t>
            </a:r>
          </a:p>
          <a:p>
            <a:pPr marL="514350" indent="-514350">
              <a:buFont typeface="+mj-lt"/>
              <a:buAutoNum type="arabicPeriod"/>
            </a:pPr>
            <a:r>
              <a:rPr lang="en-US" dirty="0">
                <a:solidFill>
                  <a:srgbClr val="CC3300"/>
                </a:solidFill>
              </a:rPr>
              <a:t>Sylhet.</a:t>
            </a:r>
          </a:p>
        </p:txBody>
      </p:sp>
    </p:spTree>
    <p:extLst>
      <p:ext uri="{BB962C8B-B14F-4D97-AF65-F5344CB8AC3E}">
        <p14:creationId xmlns:p14="http://schemas.microsoft.com/office/powerpoint/2010/main" val="42214437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p:cTn id="12"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additive="base">
                                        <p:cTn id="28"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1000"/>
                                        <p:tgtEl>
                                          <p:spTgt spid="3">
                                            <p:txEl>
                                              <p:pRg st="4" end="4"/>
                                            </p:txEl>
                                          </p:spTgt>
                                        </p:tgtEl>
                                      </p:cBhvr>
                                    </p:animEffect>
                                    <p:anim calcmode="lin" valueType="num">
                                      <p:cBhvr>
                                        <p:cTn id="3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animEffect transition="in" filter="barn(inVertical)">
                                      <p:cBhvr>
                                        <p:cTn id="41" dur="500"/>
                                        <p:tgtEl>
                                          <p:spTgt spid="3">
                                            <p:txEl>
                                              <p:pRg st="5" end="5"/>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3">
                                            <p:txEl>
                                              <p:pRg st="6" end="6"/>
                                            </p:txEl>
                                          </p:spTgt>
                                        </p:tgtEl>
                                        <p:attrNameLst>
                                          <p:attrName>style.visibility</p:attrName>
                                        </p:attrNameLst>
                                      </p:cBhvr>
                                      <p:to>
                                        <p:strVal val="visible"/>
                                      </p:to>
                                    </p:set>
                                    <p:animEffect transition="in" filter="wipe(down)">
                                      <p:cBhvr>
                                        <p:cTn id="46" dur="500"/>
                                        <p:tgtEl>
                                          <p:spTgt spid="3">
                                            <p:txEl>
                                              <p:pRg st="6" end="6"/>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nodeType="clickEffect">
                                  <p:stCondLst>
                                    <p:cond delay="0"/>
                                  </p:stCondLst>
                                  <p:childTnLst>
                                    <p:set>
                                      <p:cBhvr>
                                        <p:cTn id="50" dur="1" fill="hold">
                                          <p:stCondLst>
                                            <p:cond delay="0"/>
                                          </p:stCondLst>
                                        </p:cTn>
                                        <p:tgtEl>
                                          <p:spTgt spid="3">
                                            <p:txEl>
                                              <p:pRg st="7" end="7"/>
                                            </p:txEl>
                                          </p:spTgt>
                                        </p:tgtEl>
                                        <p:attrNameLst>
                                          <p:attrName>style.visibility</p:attrName>
                                        </p:attrNameLst>
                                      </p:cBhvr>
                                      <p:to>
                                        <p:strVal val="visible"/>
                                      </p:to>
                                    </p:set>
                                    <p:animEffect transition="in" filter="circle(in)">
                                      <p:cBhvr>
                                        <p:cTn id="51" dur="2000"/>
                                        <p:tgtEl>
                                          <p:spTgt spid="3">
                                            <p:txEl>
                                              <p:pRg st="7" end="7"/>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1" presetClass="entr" presetSubtype="1" fill="hold" nodeType="clickEffect">
                                  <p:stCondLst>
                                    <p:cond delay="0"/>
                                  </p:stCondLst>
                                  <p:childTnLst>
                                    <p:set>
                                      <p:cBhvr>
                                        <p:cTn id="55" dur="1" fill="hold">
                                          <p:stCondLst>
                                            <p:cond delay="0"/>
                                          </p:stCondLst>
                                        </p:cTn>
                                        <p:tgtEl>
                                          <p:spTgt spid="3">
                                            <p:txEl>
                                              <p:pRg st="8" end="8"/>
                                            </p:txEl>
                                          </p:spTgt>
                                        </p:tgtEl>
                                        <p:attrNameLst>
                                          <p:attrName>style.visibility</p:attrName>
                                        </p:attrNameLst>
                                      </p:cBhvr>
                                      <p:to>
                                        <p:strVal val="visible"/>
                                      </p:to>
                                    </p:set>
                                    <p:animEffect transition="in" filter="wheel(1)">
                                      <p:cBhvr>
                                        <p:cTn id="56"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70" name="Rectangle 2069">
            <a:extLst>
              <a:ext uri="{FF2B5EF4-FFF2-40B4-BE49-F238E27FC236}">
                <a16:creationId xmlns:a16="http://schemas.microsoft.com/office/drawing/2014/main" id="{FF93924A-10DF-4647-8C7A-115C017577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1400563-DA66-A0F9-E01F-8D6735629D29}"/>
              </a:ext>
            </a:extLst>
          </p:cNvPr>
          <p:cNvSpPr>
            <a:spLocks noGrp="1"/>
          </p:cNvSpPr>
          <p:nvPr>
            <p:ph type="title"/>
          </p:nvPr>
        </p:nvSpPr>
        <p:spPr>
          <a:xfrm>
            <a:off x="838202" y="549249"/>
            <a:ext cx="4142590" cy="913791"/>
          </a:xfrm>
        </p:spPr>
        <p:txBody>
          <a:bodyPr>
            <a:normAutofit fontScale="90000"/>
          </a:bodyPr>
          <a:lstStyle/>
          <a:p>
            <a:pPr algn="just"/>
            <a:r>
              <a:rPr lang="en-US" sz="6000" dirty="0">
                <a:solidFill>
                  <a:srgbClr val="00B050"/>
                </a:solidFill>
              </a:rPr>
              <a:t>BARISHAL</a:t>
            </a:r>
          </a:p>
        </p:txBody>
      </p:sp>
      <p:pic>
        <p:nvPicPr>
          <p:cNvPr id="2059" name="Picture 11">
            <a:extLst>
              <a:ext uri="{FF2B5EF4-FFF2-40B4-BE49-F238E27FC236}">
                <a16:creationId xmlns:a16="http://schemas.microsoft.com/office/drawing/2014/main" id="{073B180F-F3C3-06E8-5828-D47CAD1825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6304" b="1"/>
          <a:stretch/>
        </p:blipFill>
        <p:spPr bwMode="auto">
          <a:xfrm>
            <a:off x="5995436" y="1"/>
            <a:ext cx="3016307" cy="2223338"/>
          </a:xfrm>
          <a:prstGeom prst="rect">
            <a:avLst/>
          </a:prstGeom>
          <a:noFill/>
          <a:extLst>
            <a:ext uri="{909E8E84-426E-40DD-AFC4-6F175D3DCCD1}">
              <a14:hiddenFill xmlns:a14="http://schemas.microsoft.com/office/drawing/2010/main">
                <a:solidFill>
                  <a:srgbClr val="FFFFFF"/>
                </a:solidFill>
              </a14:hiddenFill>
            </a:ext>
          </a:extLst>
        </p:spPr>
      </p:pic>
      <p:pic>
        <p:nvPicPr>
          <p:cNvPr id="2057" name="Picture 9">
            <a:extLst>
              <a:ext uri="{FF2B5EF4-FFF2-40B4-BE49-F238E27FC236}">
                <a16:creationId xmlns:a16="http://schemas.microsoft.com/office/drawing/2014/main" id="{5E468471-3FD8-D6DC-5899-A8687D7F13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8382" r="-1" b="16871"/>
          <a:stretch/>
        </p:blipFill>
        <p:spPr bwMode="auto">
          <a:xfrm>
            <a:off x="9202062" y="0"/>
            <a:ext cx="3003123" cy="167949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D51A01D8-3977-2B65-D9F7-6C91EBD9B35C}"/>
              </a:ext>
            </a:extLst>
          </p:cNvPr>
          <p:cNvSpPr>
            <a:spLocks noGrp="1" noChangeArrowheads="1"/>
          </p:cNvSpPr>
          <p:nvPr>
            <p:ph idx="1"/>
          </p:nvPr>
        </p:nvSpPr>
        <p:spPr bwMode="auto">
          <a:xfrm>
            <a:off x="838201" y="1843285"/>
            <a:ext cx="4802249" cy="4285801"/>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spcBef>
                <a:spcPct val="0"/>
              </a:spcBef>
              <a:spcAft>
                <a:spcPts val="600"/>
              </a:spcAft>
              <a:buClrTx/>
              <a:buSzTx/>
              <a:buFontTx/>
              <a:buNone/>
              <a:tabLst/>
            </a:pPr>
            <a:r>
              <a:rPr kumimoji="0" lang="en-US" altLang="en-US" sz="1700" b="1" i="0" u="none" strike="noStrike" cap="none" normalizeH="0" baseline="0" dirty="0">
                <a:ln>
                  <a:noFill/>
                </a:ln>
                <a:solidFill>
                  <a:srgbClr val="002060"/>
                </a:solidFill>
                <a:effectLst/>
                <a:latin typeface="Arial" panose="020B0604020202020204" pitchFamily="34" charset="0"/>
                <a:cs typeface="Arial" panose="020B0604020202020204" pitchFamily="34" charset="0"/>
              </a:rPr>
              <a:t>Barisal Division</a:t>
            </a:r>
            <a:r>
              <a:rPr kumimoji="0" lang="en-US" altLang="en-US" sz="17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 is one of the eight administrative </a:t>
            </a:r>
            <a:r>
              <a:rPr kumimoji="0" lang="en-US" altLang="en-US" sz="1700" b="0" i="0" u="none" strike="noStrike" cap="none" normalizeH="0" baseline="0" dirty="0">
                <a:ln>
                  <a:noFill/>
                </a:ln>
                <a:solidFill>
                  <a:srgbClr val="002060"/>
                </a:solidFill>
                <a:effectLst/>
                <a:latin typeface="Arial" panose="020B0604020202020204" pitchFamily="34" charset="0"/>
                <a:cs typeface="Arial" panose="020B0604020202020204" pitchFamily="34" charset="0"/>
                <a:hlinkClick r:id="rId4" tooltip="Divisions of Bangladesh">
                  <a:extLst>
                    <a:ext uri="{A12FA001-AC4F-418D-AE19-62706E023703}">
                      <ahyp:hlinkClr xmlns:ahyp="http://schemas.microsoft.com/office/drawing/2018/hyperlinkcolor" val="tx"/>
                    </a:ext>
                  </a:extLst>
                </a:hlinkClick>
              </a:rPr>
              <a:t>divisions of Bangladesh</a:t>
            </a:r>
            <a:r>
              <a:rPr kumimoji="0" lang="en-US" altLang="en-US" sz="17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 Located in the south-central part of the country, it has an area of 13,225 km</a:t>
            </a:r>
            <a:r>
              <a:rPr kumimoji="0" lang="en-US" altLang="en-US" sz="1700" b="0" i="0" u="none" strike="noStrike" cap="none" normalizeH="0" baseline="30000" dirty="0">
                <a:ln>
                  <a:noFill/>
                </a:ln>
                <a:solidFill>
                  <a:srgbClr val="002060"/>
                </a:solidFill>
                <a:effectLst/>
                <a:latin typeface="Arial" panose="020B0604020202020204" pitchFamily="34" charset="0"/>
                <a:cs typeface="Arial" panose="020B0604020202020204" pitchFamily="34" charset="0"/>
              </a:rPr>
              <a:t>2</a:t>
            </a:r>
            <a:r>
              <a:rPr kumimoji="0" lang="en-US" altLang="en-US" sz="17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 (5,106 sq mi), and a population of 9,325,820 at the 2022 Census. It is the least populous Division in Bangladesh. It is bounded by </a:t>
            </a:r>
            <a:r>
              <a:rPr kumimoji="0" lang="en-US" altLang="en-US" sz="1700" b="0" i="0" u="none" strike="noStrike" cap="none" normalizeH="0" baseline="0" dirty="0">
                <a:ln>
                  <a:noFill/>
                </a:ln>
                <a:solidFill>
                  <a:srgbClr val="002060"/>
                </a:solidFill>
                <a:effectLst/>
                <a:latin typeface="Arial" panose="020B0604020202020204" pitchFamily="34" charset="0"/>
                <a:cs typeface="Arial" panose="020B0604020202020204" pitchFamily="34" charset="0"/>
                <a:hlinkClick r:id="rId5" tooltip="Dhaka Division">
                  <a:extLst>
                    <a:ext uri="{A12FA001-AC4F-418D-AE19-62706E023703}">
                      <ahyp:hlinkClr xmlns:ahyp="http://schemas.microsoft.com/office/drawing/2018/hyperlinkcolor" val="tx"/>
                    </a:ext>
                  </a:extLst>
                </a:hlinkClick>
              </a:rPr>
              <a:t>Dhaka Division</a:t>
            </a:r>
            <a:r>
              <a:rPr kumimoji="0" lang="en-US" altLang="en-US" sz="17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 on the north, the </a:t>
            </a:r>
            <a:r>
              <a:rPr kumimoji="0" lang="en-US" altLang="en-US" sz="1700" b="0" i="0" u="none" strike="noStrike" cap="none" normalizeH="0" baseline="0" dirty="0">
                <a:ln>
                  <a:noFill/>
                </a:ln>
                <a:solidFill>
                  <a:srgbClr val="002060"/>
                </a:solidFill>
                <a:effectLst/>
                <a:latin typeface="Arial" panose="020B0604020202020204" pitchFamily="34" charset="0"/>
                <a:cs typeface="Arial" panose="020B0604020202020204" pitchFamily="34" charset="0"/>
                <a:hlinkClick r:id="rId6" tooltip="Bay of Bengal">
                  <a:extLst>
                    <a:ext uri="{A12FA001-AC4F-418D-AE19-62706E023703}">
                      <ahyp:hlinkClr xmlns:ahyp="http://schemas.microsoft.com/office/drawing/2018/hyperlinkcolor" val="tx"/>
                    </a:ext>
                  </a:extLst>
                </a:hlinkClick>
              </a:rPr>
              <a:t>Bay of Bengal</a:t>
            </a:r>
            <a:r>
              <a:rPr kumimoji="0" lang="en-US" altLang="en-US" sz="17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 on the south, </a:t>
            </a:r>
            <a:r>
              <a:rPr kumimoji="0" lang="en-US" altLang="en-US" sz="1700" b="0" i="0" u="none" strike="noStrike" cap="none" normalizeH="0" baseline="0" dirty="0">
                <a:ln>
                  <a:noFill/>
                </a:ln>
                <a:solidFill>
                  <a:srgbClr val="002060"/>
                </a:solidFill>
                <a:effectLst/>
                <a:latin typeface="Arial" panose="020B0604020202020204" pitchFamily="34" charset="0"/>
                <a:cs typeface="Arial" panose="020B0604020202020204" pitchFamily="34" charset="0"/>
                <a:hlinkClick r:id="rId7" tooltip="Chittagong Division">
                  <a:extLst>
                    <a:ext uri="{A12FA001-AC4F-418D-AE19-62706E023703}">
                      <ahyp:hlinkClr xmlns:ahyp="http://schemas.microsoft.com/office/drawing/2018/hyperlinkcolor" val="tx"/>
                    </a:ext>
                  </a:extLst>
                </a:hlinkClick>
              </a:rPr>
              <a:t>Chittagong Division</a:t>
            </a:r>
            <a:r>
              <a:rPr kumimoji="0" lang="en-US" altLang="en-US" sz="17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 on the east and </a:t>
            </a:r>
            <a:r>
              <a:rPr kumimoji="0" lang="en-US" altLang="en-US" sz="1700" b="0" i="0" u="none" strike="noStrike" cap="none" normalizeH="0" baseline="0" dirty="0">
                <a:ln>
                  <a:noFill/>
                </a:ln>
                <a:solidFill>
                  <a:srgbClr val="002060"/>
                </a:solidFill>
                <a:effectLst/>
                <a:latin typeface="Arial" panose="020B0604020202020204" pitchFamily="34" charset="0"/>
                <a:cs typeface="Arial" panose="020B0604020202020204" pitchFamily="34" charset="0"/>
                <a:hlinkClick r:id="rId8" tooltip="Khulna Division">
                  <a:extLst>
                    <a:ext uri="{A12FA001-AC4F-418D-AE19-62706E023703}">
                      <ahyp:hlinkClr xmlns:ahyp="http://schemas.microsoft.com/office/drawing/2018/hyperlinkcolor" val="tx"/>
                    </a:ext>
                  </a:extLst>
                </a:hlinkClick>
              </a:rPr>
              <a:t>Khulna Division</a:t>
            </a:r>
            <a:r>
              <a:rPr kumimoji="0" lang="en-US" altLang="en-US" sz="17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 on the west. The administrative capital, </a:t>
            </a:r>
            <a:r>
              <a:rPr kumimoji="0" lang="en-US" altLang="en-US" sz="1700" b="0" i="0" u="none" strike="noStrike" cap="none" normalizeH="0" baseline="0" dirty="0">
                <a:ln>
                  <a:noFill/>
                </a:ln>
                <a:solidFill>
                  <a:srgbClr val="002060"/>
                </a:solidFill>
                <a:effectLst/>
                <a:latin typeface="Arial" panose="020B0604020202020204" pitchFamily="34" charset="0"/>
                <a:cs typeface="Arial" panose="020B0604020202020204" pitchFamily="34" charset="0"/>
                <a:hlinkClick r:id="rId9" tooltip="Barisal">
                  <a:extLst>
                    <a:ext uri="{A12FA001-AC4F-418D-AE19-62706E023703}">
                      <ahyp:hlinkClr xmlns:ahyp="http://schemas.microsoft.com/office/drawing/2018/hyperlinkcolor" val="tx"/>
                    </a:ext>
                  </a:extLst>
                </a:hlinkClick>
              </a:rPr>
              <a:t>Barisal</a:t>
            </a:r>
            <a:r>
              <a:rPr kumimoji="0" lang="en-US" altLang="en-US" sz="17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 city, lies in the </a:t>
            </a:r>
            <a:r>
              <a:rPr kumimoji="0" lang="en-US" altLang="en-US" sz="1700" b="0" i="0" u="none" strike="noStrike" cap="none" normalizeH="0" baseline="0" dirty="0">
                <a:ln>
                  <a:noFill/>
                </a:ln>
                <a:solidFill>
                  <a:srgbClr val="002060"/>
                </a:solidFill>
                <a:effectLst/>
                <a:latin typeface="Arial" panose="020B0604020202020204" pitchFamily="34" charset="0"/>
                <a:cs typeface="Arial" panose="020B0604020202020204" pitchFamily="34" charset="0"/>
                <a:hlinkClick r:id="rId10" tooltip="Padma River">
                  <a:extLst>
                    <a:ext uri="{A12FA001-AC4F-418D-AE19-62706E023703}">
                      <ahyp:hlinkClr xmlns:ahyp="http://schemas.microsoft.com/office/drawing/2018/hyperlinkcolor" val="tx"/>
                    </a:ext>
                  </a:extLst>
                </a:hlinkClick>
              </a:rPr>
              <a:t>Padma River</a:t>
            </a:r>
            <a:r>
              <a:rPr kumimoji="0" lang="en-US" altLang="en-US" sz="17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 delta on an offshoot of the </a:t>
            </a:r>
            <a:r>
              <a:rPr kumimoji="0" lang="en-US" altLang="en-US" sz="1700" b="0" i="0" u="none" strike="noStrike" cap="none" normalizeH="0" baseline="0" dirty="0">
                <a:ln>
                  <a:noFill/>
                </a:ln>
                <a:solidFill>
                  <a:srgbClr val="002060"/>
                </a:solidFill>
                <a:effectLst/>
                <a:latin typeface="Arial" panose="020B0604020202020204" pitchFamily="34" charset="0"/>
                <a:cs typeface="Arial" panose="020B0604020202020204" pitchFamily="34" charset="0"/>
                <a:hlinkClick r:id="rId11" tooltip="Kirtankhola">
                  <a:extLst>
                    <a:ext uri="{A12FA001-AC4F-418D-AE19-62706E023703}">
                      <ahyp:hlinkClr xmlns:ahyp="http://schemas.microsoft.com/office/drawing/2018/hyperlinkcolor" val="tx"/>
                    </a:ext>
                  </a:extLst>
                </a:hlinkClick>
              </a:rPr>
              <a:t>Arial Khan River</a:t>
            </a:r>
            <a:r>
              <a:rPr kumimoji="0" lang="en-US" altLang="en-US" sz="17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 Barisal division is </a:t>
            </a:r>
            <a:r>
              <a:rPr kumimoji="0" lang="en-US" altLang="en-US" sz="1700" b="0" i="0" u="none" strike="noStrike" cap="none" normalizeH="0" baseline="0" dirty="0" err="1">
                <a:ln>
                  <a:noFill/>
                </a:ln>
                <a:solidFill>
                  <a:srgbClr val="002060"/>
                </a:solidFill>
                <a:effectLst/>
                <a:latin typeface="Arial" panose="020B0604020202020204" pitchFamily="34" charset="0"/>
                <a:cs typeface="Arial" panose="020B0604020202020204" pitchFamily="34" charset="0"/>
              </a:rPr>
              <a:t>criss-crossed</a:t>
            </a:r>
            <a:r>
              <a:rPr kumimoji="0" lang="en-US" altLang="en-US" sz="17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 by numerous rivers that earned it the nickname </a:t>
            </a:r>
            <a:r>
              <a:rPr kumimoji="0" lang="en-US" altLang="en-US" sz="1700" b="0" i="1" u="none" strike="noStrike" cap="none" normalizeH="0" baseline="0" dirty="0">
                <a:ln>
                  <a:noFill/>
                </a:ln>
                <a:solidFill>
                  <a:srgbClr val="002060"/>
                </a:solidFill>
                <a:effectLst/>
                <a:latin typeface="Arial" panose="020B0604020202020204" pitchFamily="34" charset="0"/>
                <a:cs typeface="Arial" panose="020B0604020202020204" pitchFamily="34" charset="0"/>
              </a:rPr>
              <a:t>Dhan-Nodi-Khal, Ei tin-e </a:t>
            </a:r>
            <a:r>
              <a:rPr kumimoji="0" lang="en-US" altLang="en-US" sz="1700" b="0" i="1" u="none" strike="noStrike" cap="none" normalizeH="0" baseline="0" dirty="0" err="1">
                <a:ln>
                  <a:noFill/>
                </a:ln>
                <a:solidFill>
                  <a:srgbClr val="002060"/>
                </a:solidFill>
                <a:effectLst/>
                <a:latin typeface="Arial" panose="020B0604020202020204" pitchFamily="34" charset="0"/>
                <a:cs typeface="Arial" panose="020B0604020202020204" pitchFamily="34" charset="0"/>
              </a:rPr>
              <a:t>Borishal</a:t>
            </a:r>
            <a:r>
              <a:rPr kumimoji="0" lang="en-US" altLang="en-US" sz="17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 (rice, river and canal built Barisal).</a:t>
            </a:r>
            <a:r>
              <a:rPr kumimoji="0" lang="en-US" altLang="en-US" sz="1700" b="0" i="0" u="none" strike="noStrike" cap="none" normalizeH="0" baseline="0" dirty="0">
                <a:ln>
                  <a:noFill/>
                </a:ln>
                <a:solidFill>
                  <a:srgbClr val="002060"/>
                </a:solidFill>
                <a:effectLst/>
              </a:rPr>
              <a:t> </a:t>
            </a:r>
            <a:endParaRPr kumimoji="0" lang="en-US" altLang="en-US" sz="1700" b="0" i="0" u="none" strike="noStrike" cap="none" normalizeH="0" baseline="0" dirty="0">
              <a:ln>
                <a:noFill/>
              </a:ln>
              <a:solidFill>
                <a:srgbClr val="002060"/>
              </a:solidFill>
              <a:effectLst/>
              <a:latin typeface="Arial" panose="020B0604020202020204" pitchFamily="34" charset="0"/>
            </a:endParaRPr>
          </a:p>
        </p:txBody>
      </p:sp>
      <p:pic>
        <p:nvPicPr>
          <p:cNvPr id="2063" name="Picture 15">
            <a:extLst>
              <a:ext uri="{FF2B5EF4-FFF2-40B4-BE49-F238E27FC236}">
                <a16:creationId xmlns:a16="http://schemas.microsoft.com/office/drawing/2014/main" id="{7FE15CEB-5C68-EC22-4A8E-6B804EC1FC6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l="7845" r="1825" b="-2"/>
          <a:stretch/>
        </p:blipFill>
        <p:spPr bwMode="auto">
          <a:xfrm>
            <a:off x="5995437" y="2384215"/>
            <a:ext cx="3016307" cy="2234180"/>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a:extLst>
              <a:ext uri="{FF2B5EF4-FFF2-40B4-BE49-F238E27FC236}">
                <a16:creationId xmlns:a16="http://schemas.microsoft.com/office/drawing/2014/main" id="{5F9F1427-B300-691B-E8C4-BF3AAAD8C58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t="8319" r="-4" b="-4"/>
          <a:stretch/>
        </p:blipFill>
        <p:spPr bwMode="auto">
          <a:xfrm>
            <a:off x="9188877" y="1843285"/>
            <a:ext cx="3003123" cy="2064985"/>
          </a:xfrm>
          <a:prstGeom prst="rect">
            <a:avLst/>
          </a:prstGeom>
          <a:noFill/>
          <a:extLst>
            <a:ext uri="{909E8E84-426E-40DD-AFC4-6F175D3DCCD1}">
              <a14:hiddenFill xmlns:a14="http://schemas.microsoft.com/office/drawing/2010/main">
                <a:solidFill>
                  <a:srgbClr val="FFFFFF"/>
                </a:solidFill>
              </a14:hiddenFill>
            </a:ext>
          </a:extLst>
        </p:spPr>
      </p:pic>
      <p:pic>
        <p:nvPicPr>
          <p:cNvPr id="2061" name="Picture 13">
            <a:extLst>
              <a:ext uri="{FF2B5EF4-FFF2-40B4-BE49-F238E27FC236}">
                <a16:creationId xmlns:a16="http://schemas.microsoft.com/office/drawing/2014/main" id="{FC274BCB-81CD-A98F-FA3C-924441490DA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l="22858" r="24005" b="-2"/>
          <a:stretch/>
        </p:blipFill>
        <p:spPr bwMode="auto">
          <a:xfrm>
            <a:off x="5995436" y="4790113"/>
            <a:ext cx="3016307" cy="2067887"/>
          </a:xfrm>
          <a:prstGeom prst="rect">
            <a:avLst/>
          </a:prstGeom>
          <a:noFill/>
          <a:extLst>
            <a:ext uri="{909E8E84-426E-40DD-AFC4-6F175D3DCCD1}">
              <a14:hiddenFill xmlns:a14="http://schemas.microsoft.com/office/drawing/2010/main">
                <a:solidFill>
                  <a:srgbClr val="FFFFFF"/>
                </a:solidFill>
              </a14:hiddenFill>
            </a:ext>
          </a:extLst>
        </p:spPr>
      </p:pic>
      <p:pic>
        <p:nvPicPr>
          <p:cNvPr id="2055" name="Picture 7">
            <a:extLst>
              <a:ext uri="{FF2B5EF4-FFF2-40B4-BE49-F238E27FC236}">
                <a16:creationId xmlns:a16="http://schemas.microsoft.com/office/drawing/2014/main" id="{EB6AFB04-3CD2-C4BA-433D-F96B830B1787}"/>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l="6868" r="12250" b="1"/>
          <a:stretch/>
        </p:blipFill>
        <p:spPr bwMode="auto">
          <a:xfrm>
            <a:off x="9188878" y="4079988"/>
            <a:ext cx="3003123" cy="2778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0217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 calcmode="lin" valueType="num">
                                      <p:cBhvr>
                                        <p:cTn id="12"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5">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5">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2059"/>
                                        </p:tgtEl>
                                        <p:attrNameLst>
                                          <p:attrName>style.visibility</p:attrName>
                                        </p:attrNameLst>
                                      </p:cBhvr>
                                      <p:to>
                                        <p:strVal val="visible"/>
                                      </p:to>
                                    </p:set>
                                    <p:animEffect transition="in" filter="randombar(horizontal)">
                                      <p:cBhvr>
                                        <p:cTn id="19" dur="500"/>
                                        <p:tgtEl>
                                          <p:spTgt spid="2059"/>
                                        </p:tgtEl>
                                      </p:cBhvr>
                                    </p:animEffect>
                                  </p:childTnLst>
                                </p:cTn>
                              </p:par>
                            </p:childTnLst>
                          </p:cTn>
                        </p:par>
                      </p:childTnLst>
                    </p:cTn>
                  </p:par>
                  <p:par>
                    <p:cTn id="20" fill="hold">
                      <p:stCondLst>
                        <p:cond delay="indefinite"/>
                      </p:stCondLst>
                      <p:childTnLst>
                        <p:par>
                          <p:cTn id="21" fill="hold">
                            <p:stCondLst>
                              <p:cond delay="0"/>
                            </p:stCondLst>
                            <p:childTnLst>
                              <p:par>
                                <p:cTn id="22" presetID="45" presetClass="entr" presetSubtype="0" fill="hold" nodeType="clickEffect">
                                  <p:stCondLst>
                                    <p:cond delay="0"/>
                                  </p:stCondLst>
                                  <p:childTnLst>
                                    <p:set>
                                      <p:cBhvr>
                                        <p:cTn id="23" dur="1" fill="hold">
                                          <p:stCondLst>
                                            <p:cond delay="0"/>
                                          </p:stCondLst>
                                        </p:cTn>
                                        <p:tgtEl>
                                          <p:spTgt spid="2057"/>
                                        </p:tgtEl>
                                        <p:attrNameLst>
                                          <p:attrName>style.visibility</p:attrName>
                                        </p:attrNameLst>
                                      </p:cBhvr>
                                      <p:to>
                                        <p:strVal val="visible"/>
                                      </p:to>
                                    </p:set>
                                    <p:animEffect transition="in" filter="fade">
                                      <p:cBhvr>
                                        <p:cTn id="24" dur="2000"/>
                                        <p:tgtEl>
                                          <p:spTgt spid="2057"/>
                                        </p:tgtEl>
                                      </p:cBhvr>
                                    </p:animEffect>
                                    <p:anim calcmode="lin" valueType="num">
                                      <p:cBhvr>
                                        <p:cTn id="25" dur="2000" fill="hold"/>
                                        <p:tgtEl>
                                          <p:spTgt spid="2057"/>
                                        </p:tgtEl>
                                        <p:attrNameLst>
                                          <p:attrName>ppt_w</p:attrName>
                                        </p:attrNameLst>
                                      </p:cBhvr>
                                      <p:tavLst>
                                        <p:tav tm="0" fmla="#ppt_w*sin(2.5*pi*$)">
                                          <p:val>
                                            <p:fltVal val="0"/>
                                          </p:val>
                                        </p:tav>
                                        <p:tav tm="100000">
                                          <p:val>
                                            <p:fltVal val="1"/>
                                          </p:val>
                                        </p:tav>
                                      </p:tavLst>
                                    </p:anim>
                                    <p:anim calcmode="lin" valueType="num">
                                      <p:cBhvr>
                                        <p:cTn id="26" dur="2000" fill="hold"/>
                                        <p:tgtEl>
                                          <p:spTgt spid="2057"/>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6" presetClass="entr" presetSubtype="0" fill="hold" nodeType="clickEffect">
                                  <p:stCondLst>
                                    <p:cond delay="0"/>
                                  </p:stCondLst>
                                  <p:childTnLst>
                                    <p:set>
                                      <p:cBhvr>
                                        <p:cTn id="30" dur="1" fill="hold">
                                          <p:stCondLst>
                                            <p:cond delay="0"/>
                                          </p:stCondLst>
                                        </p:cTn>
                                        <p:tgtEl>
                                          <p:spTgt spid="2063"/>
                                        </p:tgtEl>
                                        <p:attrNameLst>
                                          <p:attrName>style.visibility</p:attrName>
                                        </p:attrNameLst>
                                      </p:cBhvr>
                                      <p:to>
                                        <p:strVal val="visible"/>
                                      </p:to>
                                    </p:set>
                                    <p:animEffect transition="in" filter="wipe(down)">
                                      <p:cBhvr>
                                        <p:cTn id="31" dur="580">
                                          <p:stCondLst>
                                            <p:cond delay="0"/>
                                          </p:stCondLst>
                                        </p:cTn>
                                        <p:tgtEl>
                                          <p:spTgt spid="2063"/>
                                        </p:tgtEl>
                                      </p:cBhvr>
                                    </p:animEffect>
                                    <p:anim calcmode="lin" valueType="num">
                                      <p:cBhvr>
                                        <p:cTn id="32" dur="1822" tmFilter="0,0; 0.14,0.36; 0.43,0.73; 0.71,0.91; 1.0,1.0">
                                          <p:stCondLst>
                                            <p:cond delay="0"/>
                                          </p:stCondLst>
                                        </p:cTn>
                                        <p:tgtEl>
                                          <p:spTgt spid="2063"/>
                                        </p:tgtEl>
                                        <p:attrNameLst>
                                          <p:attrName>ppt_x</p:attrName>
                                        </p:attrNameLst>
                                      </p:cBhvr>
                                      <p:tavLst>
                                        <p:tav tm="0">
                                          <p:val>
                                            <p:strVal val="#ppt_x-0.25"/>
                                          </p:val>
                                        </p:tav>
                                        <p:tav tm="100000">
                                          <p:val>
                                            <p:strVal val="#ppt_x"/>
                                          </p:val>
                                        </p:tav>
                                      </p:tavLst>
                                    </p:anim>
                                    <p:anim calcmode="lin" valueType="num">
                                      <p:cBhvr>
                                        <p:cTn id="33" dur="664" tmFilter="0.0,0.0; 0.25,0.07; 0.50,0.2; 0.75,0.467; 1.0,1.0">
                                          <p:stCondLst>
                                            <p:cond delay="0"/>
                                          </p:stCondLst>
                                        </p:cTn>
                                        <p:tgtEl>
                                          <p:spTgt spid="2063"/>
                                        </p:tgtEl>
                                        <p:attrNameLst>
                                          <p:attrName>ppt_y</p:attrName>
                                        </p:attrNameLst>
                                      </p:cBhvr>
                                      <p:tavLst>
                                        <p:tav tm="0" fmla="#ppt_y-sin(pi*$)/3">
                                          <p:val>
                                            <p:fltVal val="0.5"/>
                                          </p:val>
                                        </p:tav>
                                        <p:tav tm="100000">
                                          <p:val>
                                            <p:fltVal val="1"/>
                                          </p:val>
                                        </p:tav>
                                      </p:tavLst>
                                    </p:anim>
                                    <p:anim calcmode="lin" valueType="num">
                                      <p:cBhvr>
                                        <p:cTn id="34" dur="664" tmFilter="0, 0; 0.125,0.2665; 0.25,0.4; 0.375,0.465; 0.5,0.5;  0.625,0.535; 0.75,0.6; 0.875,0.7335; 1,1">
                                          <p:stCondLst>
                                            <p:cond delay="664"/>
                                          </p:stCondLst>
                                        </p:cTn>
                                        <p:tgtEl>
                                          <p:spTgt spid="2063"/>
                                        </p:tgtEl>
                                        <p:attrNameLst>
                                          <p:attrName>ppt_y</p:attrName>
                                        </p:attrNameLst>
                                      </p:cBhvr>
                                      <p:tavLst>
                                        <p:tav tm="0" fmla="#ppt_y-sin(pi*$)/9">
                                          <p:val>
                                            <p:fltVal val="0"/>
                                          </p:val>
                                        </p:tav>
                                        <p:tav tm="100000">
                                          <p:val>
                                            <p:fltVal val="1"/>
                                          </p:val>
                                        </p:tav>
                                      </p:tavLst>
                                    </p:anim>
                                    <p:anim calcmode="lin" valueType="num">
                                      <p:cBhvr>
                                        <p:cTn id="35" dur="332" tmFilter="0, 0; 0.125,0.2665; 0.25,0.4; 0.375,0.465; 0.5,0.5;  0.625,0.535; 0.75,0.6; 0.875,0.7335; 1,1">
                                          <p:stCondLst>
                                            <p:cond delay="1324"/>
                                          </p:stCondLst>
                                        </p:cTn>
                                        <p:tgtEl>
                                          <p:spTgt spid="2063"/>
                                        </p:tgtEl>
                                        <p:attrNameLst>
                                          <p:attrName>ppt_y</p:attrName>
                                        </p:attrNameLst>
                                      </p:cBhvr>
                                      <p:tavLst>
                                        <p:tav tm="0" fmla="#ppt_y-sin(pi*$)/27">
                                          <p:val>
                                            <p:fltVal val="0"/>
                                          </p:val>
                                        </p:tav>
                                        <p:tav tm="100000">
                                          <p:val>
                                            <p:fltVal val="1"/>
                                          </p:val>
                                        </p:tav>
                                      </p:tavLst>
                                    </p:anim>
                                    <p:anim calcmode="lin" valueType="num">
                                      <p:cBhvr>
                                        <p:cTn id="36" dur="164" tmFilter="0, 0; 0.125,0.2665; 0.25,0.4; 0.375,0.465; 0.5,0.5;  0.625,0.535; 0.75,0.6; 0.875,0.7335; 1,1">
                                          <p:stCondLst>
                                            <p:cond delay="1656"/>
                                          </p:stCondLst>
                                        </p:cTn>
                                        <p:tgtEl>
                                          <p:spTgt spid="2063"/>
                                        </p:tgtEl>
                                        <p:attrNameLst>
                                          <p:attrName>ppt_y</p:attrName>
                                        </p:attrNameLst>
                                      </p:cBhvr>
                                      <p:tavLst>
                                        <p:tav tm="0" fmla="#ppt_y-sin(pi*$)/81">
                                          <p:val>
                                            <p:fltVal val="0"/>
                                          </p:val>
                                        </p:tav>
                                        <p:tav tm="100000">
                                          <p:val>
                                            <p:fltVal val="1"/>
                                          </p:val>
                                        </p:tav>
                                      </p:tavLst>
                                    </p:anim>
                                    <p:animScale>
                                      <p:cBhvr>
                                        <p:cTn id="37" dur="26">
                                          <p:stCondLst>
                                            <p:cond delay="650"/>
                                          </p:stCondLst>
                                        </p:cTn>
                                        <p:tgtEl>
                                          <p:spTgt spid="2063"/>
                                        </p:tgtEl>
                                      </p:cBhvr>
                                      <p:to x="100000" y="60000"/>
                                    </p:animScale>
                                    <p:animScale>
                                      <p:cBhvr>
                                        <p:cTn id="38" dur="166" decel="50000">
                                          <p:stCondLst>
                                            <p:cond delay="676"/>
                                          </p:stCondLst>
                                        </p:cTn>
                                        <p:tgtEl>
                                          <p:spTgt spid="2063"/>
                                        </p:tgtEl>
                                      </p:cBhvr>
                                      <p:to x="100000" y="100000"/>
                                    </p:animScale>
                                    <p:animScale>
                                      <p:cBhvr>
                                        <p:cTn id="39" dur="26">
                                          <p:stCondLst>
                                            <p:cond delay="1312"/>
                                          </p:stCondLst>
                                        </p:cTn>
                                        <p:tgtEl>
                                          <p:spTgt spid="2063"/>
                                        </p:tgtEl>
                                      </p:cBhvr>
                                      <p:to x="100000" y="80000"/>
                                    </p:animScale>
                                    <p:animScale>
                                      <p:cBhvr>
                                        <p:cTn id="40" dur="166" decel="50000">
                                          <p:stCondLst>
                                            <p:cond delay="1338"/>
                                          </p:stCondLst>
                                        </p:cTn>
                                        <p:tgtEl>
                                          <p:spTgt spid="2063"/>
                                        </p:tgtEl>
                                      </p:cBhvr>
                                      <p:to x="100000" y="100000"/>
                                    </p:animScale>
                                    <p:animScale>
                                      <p:cBhvr>
                                        <p:cTn id="41" dur="26">
                                          <p:stCondLst>
                                            <p:cond delay="1642"/>
                                          </p:stCondLst>
                                        </p:cTn>
                                        <p:tgtEl>
                                          <p:spTgt spid="2063"/>
                                        </p:tgtEl>
                                      </p:cBhvr>
                                      <p:to x="100000" y="90000"/>
                                    </p:animScale>
                                    <p:animScale>
                                      <p:cBhvr>
                                        <p:cTn id="42" dur="166" decel="50000">
                                          <p:stCondLst>
                                            <p:cond delay="1668"/>
                                          </p:stCondLst>
                                        </p:cTn>
                                        <p:tgtEl>
                                          <p:spTgt spid="2063"/>
                                        </p:tgtEl>
                                      </p:cBhvr>
                                      <p:to x="100000" y="100000"/>
                                    </p:animScale>
                                    <p:animScale>
                                      <p:cBhvr>
                                        <p:cTn id="43" dur="26">
                                          <p:stCondLst>
                                            <p:cond delay="1808"/>
                                          </p:stCondLst>
                                        </p:cTn>
                                        <p:tgtEl>
                                          <p:spTgt spid="2063"/>
                                        </p:tgtEl>
                                      </p:cBhvr>
                                      <p:to x="100000" y="95000"/>
                                    </p:animScale>
                                    <p:animScale>
                                      <p:cBhvr>
                                        <p:cTn id="44" dur="166" decel="50000">
                                          <p:stCondLst>
                                            <p:cond delay="1834"/>
                                          </p:stCondLst>
                                        </p:cTn>
                                        <p:tgtEl>
                                          <p:spTgt spid="2063"/>
                                        </p:tgtEl>
                                      </p:cBhvr>
                                      <p:to x="100000" y="100000"/>
                                    </p:animScale>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2053"/>
                                        </p:tgtEl>
                                        <p:attrNameLst>
                                          <p:attrName>style.visibility</p:attrName>
                                        </p:attrNameLst>
                                      </p:cBhvr>
                                      <p:to>
                                        <p:strVal val="visible"/>
                                      </p:to>
                                    </p:set>
                                    <p:animEffect transition="in" filter="fade">
                                      <p:cBhvr>
                                        <p:cTn id="49" dur="1000"/>
                                        <p:tgtEl>
                                          <p:spTgt spid="2053"/>
                                        </p:tgtEl>
                                      </p:cBhvr>
                                    </p:animEffect>
                                    <p:anim calcmode="lin" valueType="num">
                                      <p:cBhvr>
                                        <p:cTn id="50" dur="1000" fill="hold"/>
                                        <p:tgtEl>
                                          <p:spTgt spid="2053"/>
                                        </p:tgtEl>
                                        <p:attrNameLst>
                                          <p:attrName>ppt_x</p:attrName>
                                        </p:attrNameLst>
                                      </p:cBhvr>
                                      <p:tavLst>
                                        <p:tav tm="0">
                                          <p:val>
                                            <p:strVal val="#ppt_x"/>
                                          </p:val>
                                        </p:tav>
                                        <p:tav tm="100000">
                                          <p:val>
                                            <p:strVal val="#ppt_x"/>
                                          </p:val>
                                        </p:tav>
                                      </p:tavLst>
                                    </p:anim>
                                    <p:anim calcmode="lin" valueType="num">
                                      <p:cBhvr>
                                        <p:cTn id="51" dur="1000" fill="hold"/>
                                        <p:tgtEl>
                                          <p:spTgt spid="2053"/>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2061"/>
                                        </p:tgtEl>
                                        <p:attrNameLst>
                                          <p:attrName>style.visibility</p:attrName>
                                        </p:attrNameLst>
                                      </p:cBhvr>
                                      <p:to>
                                        <p:strVal val="visible"/>
                                      </p:to>
                                    </p:set>
                                    <p:animEffect transition="in" filter="fade">
                                      <p:cBhvr>
                                        <p:cTn id="56" dur="500"/>
                                        <p:tgtEl>
                                          <p:spTgt spid="2061"/>
                                        </p:tgtEl>
                                      </p:cBhvr>
                                    </p:animEffect>
                                  </p:childTnLst>
                                </p:cTn>
                              </p:par>
                            </p:childTnLst>
                          </p:cTn>
                        </p:par>
                      </p:childTnLst>
                    </p:cTn>
                  </p:par>
                  <p:par>
                    <p:cTn id="57" fill="hold">
                      <p:stCondLst>
                        <p:cond delay="indefinite"/>
                      </p:stCondLst>
                      <p:childTnLst>
                        <p:par>
                          <p:cTn id="58" fill="hold">
                            <p:stCondLst>
                              <p:cond delay="0"/>
                            </p:stCondLst>
                            <p:childTnLst>
                              <p:par>
                                <p:cTn id="59" presetID="8" presetClass="emph" presetSubtype="0" fill="hold" nodeType="clickEffect">
                                  <p:stCondLst>
                                    <p:cond delay="0"/>
                                  </p:stCondLst>
                                  <p:childTnLst>
                                    <p:animRot by="21600000">
                                      <p:cBhvr>
                                        <p:cTn id="60" dur="2000" fill="hold"/>
                                        <p:tgtEl>
                                          <p:spTgt spid="205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3102" name="Rectangle 3101">
            <a:extLst>
              <a:ext uri="{FF2B5EF4-FFF2-40B4-BE49-F238E27FC236}">
                <a16:creationId xmlns:a16="http://schemas.microsoft.com/office/drawing/2014/main" id="{891401DC-7AF6-42FA-BE31-CF773B6C8B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80"/>
            <a:ext cx="12188952" cy="68580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80" name="Picture 8">
            <a:extLst>
              <a:ext uri="{FF2B5EF4-FFF2-40B4-BE49-F238E27FC236}">
                <a16:creationId xmlns:a16="http://schemas.microsoft.com/office/drawing/2014/main" id="{8A61A506-90FD-6312-3767-41A86C761E4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65260" y="139849"/>
            <a:ext cx="2592408" cy="1935178"/>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B978B21E-C854-2872-BD7A-4010C8758BE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413404" y="145173"/>
            <a:ext cx="2842667" cy="1885242"/>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a:extLst>
              <a:ext uri="{FF2B5EF4-FFF2-40B4-BE49-F238E27FC236}">
                <a16:creationId xmlns:a16="http://schemas.microsoft.com/office/drawing/2014/main" id="{55660287-8E33-8975-CF05-4008002CE9EA}"/>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8241362" y="145172"/>
            <a:ext cx="3351549" cy="1885247"/>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D04FC8E6-46A4-5D45-9CE0-DB76ECEE1603}"/>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410033" y="2432728"/>
            <a:ext cx="2892559" cy="193516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BCAF3202-7856-A281-E20F-BB1E5D876CBD}"/>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414355" y="4725033"/>
            <a:ext cx="2881145" cy="1927527"/>
          </a:xfrm>
          <a:prstGeom prst="rect">
            <a:avLst/>
          </a:prstGeom>
          <a:noFill/>
          <a:extLst>
            <a:ext uri="{909E8E84-426E-40DD-AFC4-6F175D3DCCD1}">
              <a14:hiddenFill xmlns:a14="http://schemas.microsoft.com/office/drawing/2010/main">
                <a:solidFill>
                  <a:srgbClr val="FFFFFF"/>
                </a:solidFill>
              </a14:hiddenFill>
            </a:ext>
          </a:extLst>
        </p:spPr>
      </p:pic>
      <p:sp>
        <p:nvSpPr>
          <p:cNvPr id="3104" name="Rectangle 3103">
            <a:extLst>
              <a:ext uri="{FF2B5EF4-FFF2-40B4-BE49-F238E27FC236}">
                <a16:creationId xmlns:a16="http://schemas.microsoft.com/office/drawing/2014/main" id="{2B7203F0-D9CB-4774-B9D4-B3AB625DFB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7495" y="2300641"/>
            <a:ext cx="8124506" cy="455736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A9EAD9D-F716-7D10-3C7F-C299A0A36B08}"/>
              </a:ext>
            </a:extLst>
          </p:cNvPr>
          <p:cNvSpPr>
            <a:spLocks noGrp="1"/>
          </p:cNvSpPr>
          <p:nvPr>
            <p:ph type="title"/>
          </p:nvPr>
        </p:nvSpPr>
        <p:spPr>
          <a:xfrm>
            <a:off x="4481973" y="2892583"/>
            <a:ext cx="6868620" cy="1016898"/>
          </a:xfrm>
        </p:spPr>
        <p:txBody>
          <a:bodyPr>
            <a:normAutofit/>
          </a:bodyPr>
          <a:lstStyle/>
          <a:p>
            <a:r>
              <a:rPr lang="en-US" sz="4000" dirty="0">
                <a:solidFill>
                  <a:srgbClr val="FFFFFF"/>
                </a:solidFill>
              </a:rPr>
              <a:t>CHATTOGRAM</a:t>
            </a:r>
          </a:p>
        </p:txBody>
      </p:sp>
      <p:cxnSp>
        <p:nvCxnSpPr>
          <p:cNvPr id="3106" name="Straight Connector 3105">
            <a:extLst>
              <a:ext uri="{FF2B5EF4-FFF2-40B4-BE49-F238E27FC236}">
                <a16:creationId xmlns:a16="http://schemas.microsoft.com/office/drawing/2014/main" id="{A88CB8AF-5631-45C6-BFEC-971C4D6E58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2285774"/>
            <a:ext cx="12188952" cy="0"/>
          </a:xfrm>
          <a:prstGeom prst="line">
            <a:avLst/>
          </a:prstGeom>
          <a:ln w="1016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3108" name="Straight Connector 3107">
            <a:extLst>
              <a:ext uri="{FF2B5EF4-FFF2-40B4-BE49-F238E27FC236}">
                <a16:creationId xmlns:a16="http://schemas.microsoft.com/office/drawing/2014/main" id="{9F2EA1AF-73AB-4FCB-B4EE-0E42E7250F6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4571548"/>
            <a:ext cx="4064320" cy="0"/>
          </a:xfrm>
          <a:prstGeom prst="line">
            <a:avLst/>
          </a:prstGeom>
          <a:ln w="1016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3110" name="Straight Connector 3109">
            <a:extLst>
              <a:ext uri="{FF2B5EF4-FFF2-40B4-BE49-F238E27FC236}">
                <a16:creationId xmlns:a16="http://schemas.microsoft.com/office/drawing/2014/main" id="{65A18FBF-6157-4210-BEF2-9A6C31FA89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64319" y="-680"/>
            <a:ext cx="0" cy="6858003"/>
          </a:xfrm>
          <a:prstGeom prst="line">
            <a:avLst/>
          </a:prstGeom>
          <a:ln w="1016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3112" name="Straight Connector 3111">
            <a:extLst>
              <a:ext uri="{FF2B5EF4-FFF2-40B4-BE49-F238E27FC236}">
                <a16:creationId xmlns:a16="http://schemas.microsoft.com/office/drawing/2014/main" id="{43C9CCA8-3CEC-4CD0-A624-A701C61251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20742" y="-680"/>
            <a:ext cx="0" cy="2240280"/>
          </a:xfrm>
          <a:prstGeom prst="line">
            <a:avLst/>
          </a:prstGeom>
          <a:ln w="101600">
            <a:solidFill>
              <a:srgbClr val="404040"/>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4C59367-BBEA-D79B-167D-D154FD03C500}"/>
              </a:ext>
            </a:extLst>
          </p:cNvPr>
          <p:cNvSpPr>
            <a:spLocks noGrp="1"/>
          </p:cNvSpPr>
          <p:nvPr>
            <p:ph idx="1"/>
          </p:nvPr>
        </p:nvSpPr>
        <p:spPr>
          <a:xfrm>
            <a:off x="3978168" y="3831617"/>
            <a:ext cx="7814401" cy="2429376"/>
          </a:xfrm>
        </p:spPr>
        <p:txBody>
          <a:bodyPr>
            <a:normAutofit/>
          </a:bodyPr>
          <a:lstStyle/>
          <a:p>
            <a:r>
              <a:rPr lang="en-US" sz="2000" dirty="0">
                <a:solidFill>
                  <a:srgbClr val="FFFFFF"/>
                </a:solidFill>
              </a:rPr>
              <a:t>Chittagong Division officially Chattogram Division, is geographically the largest of the eight administrative divisions of Bangladesh. It covers the south-easternmost areas of the country, with a total area of 34,529.97 km² and a population at the 2022 census of 33,202,326.</a:t>
            </a:r>
          </a:p>
        </p:txBody>
      </p:sp>
    </p:spTree>
    <p:extLst>
      <p:ext uri="{BB962C8B-B14F-4D97-AF65-F5344CB8AC3E}">
        <p14:creationId xmlns:p14="http://schemas.microsoft.com/office/powerpoint/2010/main" val="424038086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p:cTn id="14"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5"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6"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7" dur="10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08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074"/>
                                        </p:tgtEl>
                                        <p:attrNameLst>
                                          <p:attrName>style.visibility</p:attrName>
                                        </p:attrNameLst>
                                      </p:cBhvr>
                                      <p:to>
                                        <p:strVal val="visible"/>
                                      </p:to>
                                    </p:set>
                                    <p:animEffect transition="in" filter="fade">
                                      <p:cBhvr>
                                        <p:cTn id="26" dur="500"/>
                                        <p:tgtEl>
                                          <p:spTgt spid="3074"/>
                                        </p:tgtEl>
                                      </p:cBhvr>
                                    </p:animEffect>
                                  </p:childTnLst>
                                </p:cTn>
                              </p:par>
                            </p:childTnLst>
                          </p:cTn>
                        </p:par>
                      </p:childTnLst>
                    </p:cTn>
                  </p:par>
                  <p:par>
                    <p:cTn id="27" fill="hold">
                      <p:stCondLst>
                        <p:cond delay="indefinite"/>
                      </p:stCondLst>
                      <p:childTnLst>
                        <p:par>
                          <p:cTn id="28" fill="hold">
                            <p:stCondLst>
                              <p:cond delay="0"/>
                            </p:stCondLst>
                            <p:childTnLst>
                              <p:par>
                                <p:cTn id="29" presetID="45" presetClass="entr" presetSubtype="0" fill="hold" nodeType="clickEffect">
                                  <p:stCondLst>
                                    <p:cond delay="0"/>
                                  </p:stCondLst>
                                  <p:childTnLst>
                                    <p:set>
                                      <p:cBhvr>
                                        <p:cTn id="30" dur="1" fill="hold">
                                          <p:stCondLst>
                                            <p:cond delay="0"/>
                                          </p:stCondLst>
                                        </p:cTn>
                                        <p:tgtEl>
                                          <p:spTgt spid="3082"/>
                                        </p:tgtEl>
                                        <p:attrNameLst>
                                          <p:attrName>style.visibility</p:attrName>
                                        </p:attrNameLst>
                                      </p:cBhvr>
                                      <p:to>
                                        <p:strVal val="visible"/>
                                      </p:to>
                                    </p:set>
                                    <p:animEffect transition="in" filter="fade">
                                      <p:cBhvr>
                                        <p:cTn id="31" dur="2000"/>
                                        <p:tgtEl>
                                          <p:spTgt spid="3082"/>
                                        </p:tgtEl>
                                      </p:cBhvr>
                                    </p:animEffect>
                                    <p:anim calcmode="lin" valueType="num">
                                      <p:cBhvr>
                                        <p:cTn id="32" dur="2000" fill="hold"/>
                                        <p:tgtEl>
                                          <p:spTgt spid="3082"/>
                                        </p:tgtEl>
                                        <p:attrNameLst>
                                          <p:attrName>ppt_w</p:attrName>
                                        </p:attrNameLst>
                                      </p:cBhvr>
                                      <p:tavLst>
                                        <p:tav tm="0" fmla="#ppt_w*sin(2.5*pi*$)">
                                          <p:val>
                                            <p:fltVal val="0"/>
                                          </p:val>
                                        </p:tav>
                                        <p:tav tm="100000">
                                          <p:val>
                                            <p:fltVal val="1"/>
                                          </p:val>
                                        </p:tav>
                                      </p:tavLst>
                                    </p:anim>
                                    <p:anim calcmode="lin" valueType="num">
                                      <p:cBhvr>
                                        <p:cTn id="33" dur="2000" fill="hold"/>
                                        <p:tgtEl>
                                          <p:spTgt spid="3082"/>
                                        </p:tgtEl>
                                        <p:attrNameLst>
                                          <p:attrName>ppt_h</p:attrName>
                                        </p:attrNameLst>
                                      </p:cBhvr>
                                      <p:tavLst>
                                        <p:tav tm="0">
                                          <p:val>
                                            <p:strVal val="#ppt_h"/>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26" presetClass="entr" presetSubtype="0" fill="hold" nodeType="clickEffect">
                                  <p:stCondLst>
                                    <p:cond delay="0"/>
                                  </p:stCondLst>
                                  <p:childTnLst>
                                    <p:set>
                                      <p:cBhvr>
                                        <p:cTn id="37" dur="1" fill="hold">
                                          <p:stCondLst>
                                            <p:cond delay="0"/>
                                          </p:stCondLst>
                                        </p:cTn>
                                        <p:tgtEl>
                                          <p:spTgt spid="3078"/>
                                        </p:tgtEl>
                                        <p:attrNameLst>
                                          <p:attrName>style.visibility</p:attrName>
                                        </p:attrNameLst>
                                      </p:cBhvr>
                                      <p:to>
                                        <p:strVal val="visible"/>
                                      </p:to>
                                    </p:set>
                                    <p:animEffect transition="in" filter="wipe(down)">
                                      <p:cBhvr>
                                        <p:cTn id="38" dur="580">
                                          <p:stCondLst>
                                            <p:cond delay="0"/>
                                          </p:stCondLst>
                                        </p:cTn>
                                        <p:tgtEl>
                                          <p:spTgt spid="3078"/>
                                        </p:tgtEl>
                                      </p:cBhvr>
                                    </p:animEffect>
                                    <p:anim calcmode="lin" valueType="num">
                                      <p:cBhvr>
                                        <p:cTn id="39" dur="1822" tmFilter="0,0; 0.14,0.36; 0.43,0.73; 0.71,0.91; 1.0,1.0">
                                          <p:stCondLst>
                                            <p:cond delay="0"/>
                                          </p:stCondLst>
                                        </p:cTn>
                                        <p:tgtEl>
                                          <p:spTgt spid="3078"/>
                                        </p:tgtEl>
                                        <p:attrNameLst>
                                          <p:attrName>ppt_x</p:attrName>
                                        </p:attrNameLst>
                                      </p:cBhvr>
                                      <p:tavLst>
                                        <p:tav tm="0">
                                          <p:val>
                                            <p:strVal val="#ppt_x-0.25"/>
                                          </p:val>
                                        </p:tav>
                                        <p:tav tm="100000">
                                          <p:val>
                                            <p:strVal val="#ppt_x"/>
                                          </p:val>
                                        </p:tav>
                                      </p:tavLst>
                                    </p:anim>
                                    <p:anim calcmode="lin" valueType="num">
                                      <p:cBhvr>
                                        <p:cTn id="40" dur="664" tmFilter="0.0,0.0; 0.25,0.07; 0.50,0.2; 0.75,0.467; 1.0,1.0">
                                          <p:stCondLst>
                                            <p:cond delay="0"/>
                                          </p:stCondLst>
                                        </p:cTn>
                                        <p:tgtEl>
                                          <p:spTgt spid="3078"/>
                                        </p:tgtEl>
                                        <p:attrNameLst>
                                          <p:attrName>ppt_y</p:attrName>
                                        </p:attrNameLst>
                                      </p:cBhvr>
                                      <p:tavLst>
                                        <p:tav tm="0" fmla="#ppt_y-sin(pi*$)/3">
                                          <p:val>
                                            <p:fltVal val="0.5"/>
                                          </p:val>
                                        </p:tav>
                                        <p:tav tm="100000">
                                          <p:val>
                                            <p:fltVal val="1"/>
                                          </p:val>
                                        </p:tav>
                                      </p:tavLst>
                                    </p:anim>
                                    <p:anim calcmode="lin" valueType="num">
                                      <p:cBhvr>
                                        <p:cTn id="41" dur="664" tmFilter="0, 0; 0.125,0.2665; 0.25,0.4; 0.375,0.465; 0.5,0.5;  0.625,0.535; 0.75,0.6; 0.875,0.7335; 1,1">
                                          <p:stCondLst>
                                            <p:cond delay="664"/>
                                          </p:stCondLst>
                                        </p:cTn>
                                        <p:tgtEl>
                                          <p:spTgt spid="3078"/>
                                        </p:tgtEl>
                                        <p:attrNameLst>
                                          <p:attrName>ppt_y</p:attrName>
                                        </p:attrNameLst>
                                      </p:cBhvr>
                                      <p:tavLst>
                                        <p:tav tm="0" fmla="#ppt_y-sin(pi*$)/9">
                                          <p:val>
                                            <p:fltVal val="0"/>
                                          </p:val>
                                        </p:tav>
                                        <p:tav tm="100000">
                                          <p:val>
                                            <p:fltVal val="1"/>
                                          </p:val>
                                        </p:tav>
                                      </p:tavLst>
                                    </p:anim>
                                    <p:anim calcmode="lin" valueType="num">
                                      <p:cBhvr>
                                        <p:cTn id="42" dur="332" tmFilter="0, 0; 0.125,0.2665; 0.25,0.4; 0.375,0.465; 0.5,0.5;  0.625,0.535; 0.75,0.6; 0.875,0.7335; 1,1">
                                          <p:stCondLst>
                                            <p:cond delay="1324"/>
                                          </p:stCondLst>
                                        </p:cTn>
                                        <p:tgtEl>
                                          <p:spTgt spid="3078"/>
                                        </p:tgtEl>
                                        <p:attrNameLst>
                                          <p:attrName>ppt_y</p:attrName>
                                        </p:attrNameLst>
                                      </p:cBhvr>
                                      <p:tavLst>
                                        <p:tav tm="0" fmla="#ppt_y-sin(pi*$)/27">
                                          <p:val>
                                            <p:fltVal val="0"/>
                                          </p:val>
                                        </p:tav>
                                        <p:tav tm="100000">
                                          <p:val>
                                            <p:fltVal val="1"/>
                                          </p:val>
                                        </p:tav>
                                      </p:tavLst>
                                    </p:anim>
                                    <p:anim calcmode="lin" valueType="num">
                                      <p:cBhvr>
                                        <p:cTn id="43" dur="164" tmFilter="0, 0; 0.125,0.2665; 0.25,0.4; 0.375,0.465; 0.5,0.5;  0.625,0.535; 0.75,0.6; 0.875,0.7335; 1,1">
                                          <p:stCondLst>
                                            <p:cond delay="1656"/>
                                          </p:stCondLst>
                                        </p:cTn>
                                        <p:tgtEl>
                                          <p:spTgt spid="3078"/>
                                        </p:tgtEl>
                                        <p:attrNameLst>
                                          <p:attrName>ppt_y</p:attrName>
                                        </p:attrNameLst>
                                      </p:cBhvr>
                                      <p:tavLst>
                                        <p:tav tm="0" fmla="#ppt_y-sin(pi*$)/81">
                                          <p:val>
                                            <p:fltVal val="0"/>
                                          </p:val>
                                        </p:tav>
                                        <p:tav tm="100000">
                                          <p:val>
                                            <p:fltVal val="1"/>
                                          </p:val>
                                        </p:tav>
                                      </p:tavLst>
                                    </p:anim>
                                    <p:animScale>
                                      <p:cBhvr>
                                        <p:cTn id="44" dur="26">
                                          <p:stCondLst>
                                            <p:cond delay="650"/>
                                          </p:stCondLst>
                                        </p:cTn>
                                        <p:tgtEl>
                                          <p:spTgt spid="3078"/>
                                        </p:tgtEl>
                                      </p:cBhvr>
                                      <p:to x="100000" y="60000"/>
                                    </p:animScale>
                                    <p:animScale>
                                      <p:cBhvr>
                                        <p:cTn id="45" dur="166" decel="50000">
                                          <p:stCondLst>
                                            <p:cond delay="676"/>
                                          </p:stCondLst>
                                        </p:cTn>
                                        <p:tgtEl>
                                          <p:spTgt spid="3078"/>
                                        </p:tgtEl>
                                      </p:cBhvr>
                                      <p:to x="100000" y="100000"/>
                                    </p:animScale>
                                    <p:animScale>
                                      <p:cBhvr>
                                        <p:cTn id="46" dur="26">
                                          <p:stCondLst>
                                            <p:cond delay="1312"/>
                                          </p:stCondLst>
                                        </p:cTn>
                                        <p:tgtEl>
                                          <p:spTgt spid="3078"/>
                                        </p:tgtEl>
                                      </p:cBhvr>
                                      <p:to x="100000" y="80000"/>
                                    </p:animScale>
                                    <p:animScale>
                                      <p:cBhvr>
                                        <p:cTn id="47" dur="166" decel="50000">
                                          <p:stCondLst>
                                            <p:cond delay="1338"/>
                                          </p:stCondLst>
                                        </p:cTn>
                                        <p:tgtEl>
                                          <p:spTgt spid="3078"/>
                                        </p:tgtEl>
                                      </p:cBhvr>
                                      <p:to x="100000" y="100000"/>
                                    </p:animScale>
                                    <p:animScale>
                                      <p:cBhvr>
                                        <p:cTn id="48" dur="26">
                                          <p:stCondLst>
                                            <p:cond delay="1642"/>
                                          </p:stCondLst>
                                        </p:cTn>
                                        <p:tgtEl>
                                          <p:spTgt spid="3078"/>
                                        </p:tgtEl>
                                      </p:cBhvr>
                                      <p:to x="100000" y="90000"/>
                                    </p:animScale>
                                    <p:animScale>
                                      <p:cBhvr>
                                        <p:cTn id="49" dur="166" decel="50000">
                                          <p:stCondLst>
                                            <p:cond delay="1668"/>
                                          </p:stCondLst>
                                        </p:cTn>
                                        <p:tgtEl>
                                          <p:spTgt spid="3078"/>
                                        </p:tgtEl>
                                      </p:cBhvr>
                                      <p:to x="100000" y="100000"/>
                                    </p:animScale>
                                    <p:animScale>
                                      <p:cBhvr>
                                        <p:cTn id="50" dur="26">
                                          <p:stCondLst>
                                            <p:cond delay="1808"/>
                                          </p:stCondLst>
                                        </p:cTn>
                                        <p:tgtEl>
                                          <p:spTgt spid="3078"/>
                                        </p:tgtEl>
                                      </p:cBhvr>
                                      <p:to x="100000" y="95000"/>
                                    </p:animScale>
                                    <p:animScale>
                                      <p:cBhvr>
                                        <p:cTn id="51" dur="166" decel="50000">
                                          <p:stCondLst>
                                            <p:cond delay="1834"/>
                                          </p:stCondLst>
                                        </p:cTn>
                                        <p:tgtEl>
                                          <p:spTgt spid="3078"/>
                                        </p:tgtEl>
                                      </p:cBhvr>
                                      <p:to x="100000" y="100000"/>
                                    </p:animScale>
                                  </p:childTnLst>
                                </p:cTn>
                              </p:par>
                            </p:childTnLst>
                          </p:cTn>
                        </p:par>
                      </p:childTnLst>
                    </p:cTn>
                  </p:par>
                  <p:par>
                    <p:cTn id="52" fill="hold">
                      <p:stCondLst>
                        <p:cond delay="indefinite"/>
                      </p:stCondLst>
                      <p:childTnLst>
                        <p:par>
                          <p:cTn id="53" fill="hold">
                            <p:stCondLst>
                              <p:cond delay="0"/>
                            </p:stCondLst>
                            <p:childTnLst>
                              <p:par>
                                <p:cTn id="54" presetID="45" presetClass="entr" presetSubtype="0" fill="hold" nodeType="clickEffect">
                                  <p:stCondLst>
                                    <p:cond delay="0"/>
                                  </p:stCondLst>
                                  <p:childTnLst>
                                    <p:set>
                                      <p:cBhvr>
                                        <p:cTn id="55" dur="1" fill="hold">
                                          <p:stCondLst>
                                            <p:cond delay="0"/>
                                          </p:stCondLst>
                                        </p:cTn>
                                        <p:tgtEl>
                                          <p:spTgt spid="3076"/>
                                        </p:tgtEl>
                                        <p:attrNameLst>
                                          <p:attrName>style.visibility</p:attrName>
                                        </p:attrNameLst>
                                      </p:cBhvr>
                                      <p:to>
                                        <p:strVal val="visible"/>
                                      </p:to>
                                    </p:set>
                                    <p:animEffect transition="in" filter="fade">
                                      <p:cBhvr>
                                        <p:cTn id="56" dur="2000"/>
                                        <p:tgtEl>
                                          <p:spTgt spid="3076"/>
                                        </p:tgtEl>
                                      </p:cBhvr>
                                    </p:animEffect>
                                    <p:anim calcmode="lin" valueType="num">
                                      <p:cBhvr>
                                        <p:cTn id="57" dur="2000" fill="hold"/>
                                        <p:tgtEl>
                                          <p:spTgt spid="3076"/>
                                        </p:tgtEl>
                                        <p:attrNameLst>
                                          <p:attrName>ppt_w</p:attrName>
                                        </p:attrNameLst>
                                      </p:cBhvr>
                                      <p:tavLst>
                                        <p:tav tm="0" fmla="#ppt_w*sin(2.5*pi*$)">
                                          <p:val>
                                            <p:fltVal val="0"/>
                                          </p:val>
                                        </p:tav>
                                        <p:tav tm="100000">
                                          <p:val>
                                            <p:fltVal val="1"/>
                                          </p:val>
                                        </p:tav>
                                      </p:tavLst>
                                    </p:anim>
                                    <p:anim calcmode="lin" valueType="num">
                                      <p:cBhvr>
                                        <p:cTn id="58" dur="2000" fill="hold"/>
                                        <p:tgtEl>
                                          <p:spTgt spid="307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5" name="Rectangle 4104">
            <a:extLst>
              <a:ext uri="{FF2B5EF4-FFF2-40B4-BE49-F238E27FC236}">
                <a16:creationId xmlns:a16="http://schemas.microsoft.com/office/drawing/2014/main" id="{D2B783EE-0239-4717-BBEA-8C9EAC61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C6482A-965F-A64A-9E97-40AA147417AE}"/>
              </a:ext>
            </a:extLst>
          </p:cNvPr>
          <p:cNvSpPr>
            <a:spLocks noGrp="1"/>
          </p:cNvSpPr>
          <p:nvPr>
            <p:ph type="title"/>
          </p:nvPr>
        </p:nvSpPr>
        <p:spPr>
          <a:xfrm>
            <a:off x="838201" y="345810"/>
            <a:ext cx="5120561" cy="1325563"/>
          </a:xfrm>
        </p:spPr>
        <p:txBody>
          <a:bodyPr>
            <a:normAutofit/>
          </a:bodyPr>
          <a:lstStyle/>
          <a:p>
            <a:r>
              <a:rPr lang="en-US" dirty="0"/>
              <a:t>DHAKA</a:t>
            </a:r>
          </a:p>
        </p:txBody>
      </p:sp>
      <p:sp>
        <p:nvSpPr>
          <p:cNvPr id="3" name="Content Placeholder 2">
            <a:extLst>
              <a:ext uri="{FF2B5EF4-FFF2-40B4-BE49-F238E27FC236}">
                <a16:creationId xmlns:a16="http://schemas.microsoft.com/office/drawing/2014/main" id="{1CBAF109-0A39-030F-6AA7-0DF9189E1474}"/>
              </a:ext>
            </a:extLst>
          </p:cNvPr>
          <p:cNvSpPr>
            <a:spLocks noGrp="1"/>
          </p:cNvSpPr>
          <p:nvPr>
            <p:ph idx="1"/>
          </p:nvPr>
        </p:nvSpPr>
        <p:spPr>
          <a:xfrm>
            <a:off x="838201" y="1825625"/>
            <a:ext cx="5092194" cy="4351338"/>
          </a:xfrm>
        </p:spPr>
        <p:txBody>
          <a:bodyPr>
            <a:normAutofit/>
          </a:bodyPr>
          <a:lstStyle/>
          <a:p>
            <a:r>
              <a:rPr lang="en-US" sz="2600" b="1" dirty="0"/>
              <a:t>Dhaka Division</a:t>
            </a:r>
            <a:r>
              <a:rPr lang="en-US" sz="2600" dirty="0"/>
              <a:t> is one of the eight administrative </a:t>
            </a:r>
            <a:r>
              <a:rPr lang="en-US" sz="2600" dirty="0">
                <a:hlinkClick r:id="rId2" tooltip="Departments of Bangladesh"/>
              </a:rPr>
              <a:t>divisions of </a:t>
            </a:r>
            <a:r>
              <a:rPr lang="en-US" sz="2600" dirty="0">
                <a:hlinkClick r:id="rId3" tooltip="Bangladesh"/>
              </a:rPr>
              <a:t>Bangladesh</a:t>
            </a:r>
            <a:r>
              <a:rPr lang="en-US" sz="2600" dirty="0"/>
              <a:t> . It is located in the central region of Bangladesh.</a:t>
            </a:r>
          </a:p>
          <a:p>
            <a:r>
              <a:rPr lang="en-US" sz="2600" dirty="0"/>
              <a:t>Dhaka Division's GDP is $221.73 billion and GDP PPP is $497 billion.</a:t>
            </a:r>
          </a:p>
          <a:p>
            <a:r>
              <a:rPr lang="en-US" sz="2600" dirty="0"/>
              <a:t>The largest district in Dhaka Division by area is </a:t>
            </a:r>
            <a:r>
              <a:rPr lang="en-US" sz="2600" dirty="0">
                <a:hlinkClick r:id="rId4" tooltip="Tangail District"/>
              </a:rPr>
              <a:t>Tangail District</a:t>
            </a:r>
            <a:r>
              <a:rPr lang="en-US" sz="2600" dirty="0"/>
              <a:t> and the smallest district is </a:t>
            </a:r>
            <a:r>
              <a:rPr lang="en-US" sz="2600" dirty="0">
                <a:hlinkClick r:id="rId5" tooltip="Narayanganj District"/>
              </a:rPr>
              <a:t>Narayanganj District</a:t>
            </a:r>
            <a:r>
              <a:rPr lang="en-US" sz="2600" dirty="0"/>
              <a:t> .</a:t>
            </a:r>
          </a:p>
          <a:p>
            <a:endParaRPr lang="en-US" sz="2600" dirty="0"/>
          </a:p>
        </p:txBody>
      </p:sp>
      <p:sp>
        <p:nvSpPr>
          <p:cNvPr id="4107" name="Oval 4106">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4098" name="Picture 2" descr="12,900+ Dhaka Division Stock Photos, Pictures &amp; Royalty-Free Images - iStock">
            <a:extLst>
              <a:ext uri="{FF2B5EF4-FFF2-40B4-BE49-F238E27FC236}">
                <a16:creationId xmlns:a16="http://schemas.microsoft.com/office/drawing/2014/main" id="{087854F5-73E7-7364-6340-9BE71426643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11511" r="10675"/>
          <a:stretch/>
        </p:blipFill>
        <p:spPr bwMode="auto">
          <a:xfrm>
            <a:off x="7901259" y="2727729"/>
            <a:ext cx="4290741" cy="4130271"/>
          </a:xfrm>
          <a:custGeom>
            <a:avLst/>
            <a:gdLst/>
            <a:ahLst/>
            <a:cxnLst/>
            <a:rect l="l" t="t" r="r" b="b"/>
            <a:pathLst>
              <a:path w="4290741" h="4130271">
                <a:moveTo>
                  <a:pt x="2503809" y="0"/>
                </a:moveTo>
                <a:cubicBezTo>
                  <a:pt x="3157405" y="0"/>
                  <a:pt x="3752509" y="250434"/>
                  <a:pt x="4198398" y="660580"/>
                </a:cubicBezTo>
                <a:lnTo>
                  <a:pt x="4290741" y="751286"/>
                </a:lnTo>
                <a:lnTo>
                  <a:pt x="4290741" y="4130271"/>
                </a:lnTo>
                <a:lnTo>
                  <a:pt x="604508" y="4130271"/>
                </a:lnTo>
                <a:lnTo>
                  <a:pt x="461940" y="3953232"/>
                </a:lnTo>
                <a:cubicBezTo>
                  <a:pt x="171051" y="3544183"/>
                  <a:pt x="0" y="3043971"/>
                  <a:pt x="0" y="2503809"/>
                </a:cubicBezTo>
                <a:cubicBezTo>
                  <a:pt x="0" y="1120992"/>
                  <a:pt x="1120992" y="0"/>
                  <a:pt x="2503809" y="0"/>
                </a:cubicBezTo>
                <a:close/>
              </a:path>
            </a:pathLst>
          </a:custGeom>
          <a:noFill/>
          <a:extLst>
            <a:ext uri="{909E8E84-426E-40DD-AFC4-6F175D3DCCD1}">
              <a14:hiddenFill xmlns:a14="http://schemas.microsoft.com/office/drawing/2010/main">
                <a:solidFill>
                  <a:srgbClr val="FFFFFF"/>
                </a:solidFill>
              </a14:hiddenFill>
            </a:ext>
          </a:extLst>
        </p:spPr>
      </p:pic>
      <p:sp>
        <p:nvSpPr>
          <p:cNvPr id="4109" name="Arc 4108">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4100" name="Picture 4" descr="Visit Dhaka Division: 2025 Travel Guide for Dhaka Division, Bangladesh |  Expedia">
            <a:extLst>
              <a:ext uri="{FF2B5EF4-FFF2-40B4-BE49-F238E27FC236}">
                <a16:creationId xmlns:a16="http://schemas.microsoft.com/office/drawing/2014/main" id="{F5C5A208-D497-40FC-5E52-4C696F66C52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l="11085" r="21093" b="-1"/>
          <a:stretch/>
        </p:blipFill>
        <p:spPr bwMode="auto">
          <a:xfrm>
            <a:off x="6261607" y="1"/>
            <a:ext cx="3519312" cy="3007909"/>
          </a:xfrm>
          <a:custGeom>
            <a:avLst/>
            <a:gdLst/>
            <a:ahLst/>
            <a:cxnLst/>
            <a:rect l="l" t="t" r="r" b="b"/>
            <a:pathLst>
              <a:path w="3519312" h="3007909">
                <a:moveTo>
                  <a:pt x="519780" y="0"/>
                </a:moveTo>
                <a:lnTo>
                  <a:pt x="2999532" y="0"/>
                </a:lnTo>
                <a:lnTo>
                  <a:pt x="3003921" y="3989"/>
                </a:lnTo>
                <a:cubicBezTo>
                  <a:pt x="3322356" y="322424"/>
                  <a:pt x="3519312" y="762338"/>
                  <a:pt x="3519312" y="1248253"/>
                </a:cubicBezTo>
                <a:cubicBezTo>
                  <a:pt x="3519312" y="2220084"/>
                  <a:pt x="2731487" y="3007909"/>
                  <a:pt x="1759656" y="3007909"/>
                </a:cubicBezTo>
                <a:cubicBezTo>
                  <a:pt x="787826" y="3007909"/>
                  <a:pt x="0" y="2220084"/>
                  <a:pt x="0" y="1248253"/>
                </a:cubicBezTo>
                <a:cubicBezTo>
                  <a:pt x="0" y="762338"/>
                  <a:pt x="196957" y="322424"/>
                  <a:pt x="515392" y="3989"/>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8424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p:cTn id="12"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3"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4"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5" dur="1000"/>
                                        <p:tgtEl>
                                          <p:spTgt spid="3">
                                            <p:txEl>
                                              <p:pRg st="0" end="0"/>
                                            </p:txEl>
                                          </p:spTgt>
                                        </p:tgtEl>
                                      </p:cBhvr>
                                    </p:animEffect>
                                  </p:childTnLst>
                                </p:cTn>
                              </p:par>
                              <p:par>
                                <p:cTn id="16" presetID="31" presetClass="entr" presetSubtype="0" fill="hold" nodeType="with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p:cTn id="18"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9"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0"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1" dur="1000"/>
                                        <p:tgtEl>
                                          <p:spTgt spid="3">
                                            <p:txEl>
                                              <p:pRg st="1" end="1"/>
                                            </p:txEl>
                                          </p:spTgt>
                                        </p:tgtEl>
                                      </p:cBhvr>
                                    </p:animEffect>
                                  </p:childTnLst>
                                </p:cTn>
                              </p:par>
                              <p:par>
                                <p:cTn id="22" presetID="31" presetClass="entr" presetSubtype="0" fill="hold" nodeType="with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p:cTn id="24"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5"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6"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27" dur="1000"/>
                                        <p:tgtEl>
                                          <p:spTgt spid="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4100"/>
                                        </p:tgtEl>
                                        <p:attrNameLst>
                                          <p:attrName>style.visibility</p:attrName>
                                        </p:attrNameLst>
                                      </p:cBhvr>
                                      <p:to>
                                        <p:strVal val="visible"/>
                                      </p:to>
                                    </p:set>
                                    <p:animEffect transition="in" filter="randombar(horizontal)">
                                      <p:cBhvr>
                                        <p:cTn id="32" dur="500"/>
                                        <p:tgtEl>
                                          <p:spTgt spid="4100"/>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4098"/>
                                        </p:tgtEl>
                                        <p:attrNameLst>
                                          <p:attrName>style.visibility</p:attrName>
                                        </p:attrNameLst>
                                      </p:cBhvr>
                                      <p:to>
                                        <p:strVal val="visible"/>
                                      </p:to>
                                    </p:set>
                                    <p:anim calcmode="lin" valueType="num">
                                      <p:cBhvr>
                                        <p:cTn id="37" dur="1000" fill="hold"/>
                                        <p:tgtEl>
                                          <p:spTgt spid="4098"/>
                                        </p:tgtEl>
                                        <p:attrNameLst>
                                          <p:attrName>ppt_w</p:attrName>
                                        </p:attrNameLst>
                                      </p:cBhvr>
                                      <p:tavLst>
                                        <p:tav tm="0">
                                          <p:val>
                                            <p:fltVal val="0"/>
                                          </p:val>
                                        </p:tav>
                                        <p:tav tm="100000">
                                          <p:val>
                                            <p:strVal val="#ppt_w"/>
                                          </p:val>
                                        </p:tav>
                                      </p:tavLst>
                                    </p:anim>
                                    <p:anim calcmode="lin" valueType="num">
                                      <p:cBhvr>
                                        <p:cTn id="38" dur="1000" fill="hold"/>
                                        <p:tgtEl>
                                          <p:spTgt spid="4098"/>
                                        </p:tgtEl>
                                        <p:attrNameLst>
                                          <p:attrName>ppt_h</p:attrName>
                                        </p:attrNameLst>
                                      </p:cBhvr>
                                      <p:tavLst>
                                        <p:tav tm="0">
                                          <p:val>
                                            <p:fltVal val="0"/>
                                          </p:val>
                                        </p:tav>
                                        <p:tav tm="100000">
                                          <p:val>
                                            <p:strVal val="#ppt_h"/>
                                          </p:val>
                                        </p:tav>
                                      </p:tavLst>
                                    </p:anim>
                                    <p:anim calcmode="lin" valueType="num">
                                      <p:cBhvr>
                                        <p:cTn id="39" dur="1000" fill="hold"/>
                                        <p:tgtEl>
                                          <p:spTgt spid="4098"/>
                                        </p:tgtEl>
                                        <p:attrNameLst>
                                          <p:attrName>style.rotation</p:attrName>
                                        </p:attrNameLst>
                                      </p:cBhvr>
                                      <p:tavLst>
                                        <p:tav tm="0">
                                          <p:val>
                                            <p:fltVal val="90"/>
                                          </p:val>
                                        </p:tav>
                                        <p:tav tm="100000">
                                          <p:val>
                                            <p:fltVal val="0"/>
                                          </p:val>
                                        </p:tav>
                                      </p:tavLst>
                                    </p:anim>
                                    <p:animEffect transition="in" filter="fade">
                                      <p:cBhvr>
                                        <p:cTn id="40" dur="10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40" name="Slide Background Fill">
            <a:extLst>
              <a:ext uri="{FF2B5EF4-FFF2-40B4-BE49-F238E27FC236}">
                <a16:creationId xmlns:a16="http://schemas.microsoft.com/office/drawing/2014/main" id="{C3420C89-0B09-4632-A4AF-3971D08BF7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42" name="Color Cover">
            <a:extLst>
              <a:ext uri="{FF2B5EF4-FFF2-40B4-BE49-F238E27FC236}">
                <a16:creationId xmlns:a16="http://schemas.microsoft.com/office/drawing/2014/main" id="{4E5CBA61-BF74-40B4-A3A8-366BBA626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144" name="Group 5143">
            <a:extLst>
              <a:ext uri="{FF2B5EF4-FFF2-40B4-BE49-F238E27FC236}">
                <a16:creationId xmlns:a16="http://schemas.microsoft.com/office/drawing/2014/main" id="{3300ACA1-4C65-4F60-B139-EA3F53C9CC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518"/>
            <a:ext cx="12188952" cy="3490956"/>
            <a:chOff x="651279" y="598259"/>
            <a:chExt cx="10889442" cy="5680742"/>
          </a:xfrm>
        </p:grpSpPr>
        <p:sp>
          <p:nvSpPr>
            <p:cNvPr id="5145" name="Color">
              <a:extLst>
                <a:ext uri="{FF2B5EF4-FFF2-40B4-BE49-F238E27FC236}">
                  <a16:creationId xmlns:a16="http://schemas.microsoft.com/office/drawing/2014/main" id="{B79F55E3-994C-4E20-85AB-669EB4A11F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46" name="Color">
              <a:extLst>
                <a:ext uri="{FF2B5EF4-FFF2-40B4-BE49-F238E27FC236}">
                  <a16:creationId xmlns:a16="http://schemas.microsoft.com/office/drawing/2014/main" id="{18ED73C6-80DF-4327-90E0-7F3F428C78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124" name="Picture 4">
            <a:extLst>
              <a:ext uri="{FF2B5EF4-FFF2-40B4-BE49-F238E27FC236}">
                <a16:creationId xmlns:a16="http://schemas.microsoft.com/office/drawing/2014/main" id="{C69665AD-659A-EC91-FFBC-A909C3DF84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9143" r="2" b="16036"/>
          <a:stretch/>
        </p:blipFill>
        <p:spPr bwMode="auto">
          <a:xfrm>
            <a:off x="6803647" y="1065276"/>
            <a:ext cx="4730214" cy="2363724"/>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a:extLst>
              <a:ext uri="{FF2B5EF4-FFF2-40B4-BE49-F238E27FC236}">
                <a16:creationId xmlns:a16="http://schemas.microsoft.com/office/drawing/2014/main" id="{0BB8E121-F2ED-98B7-3F04-68B3E79D54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2" b="10882"/>
          <a:stretch/>
        </p:blipFill>
        <p:spPr bwMode="auto">
          <a:xfrm>
            <a:off x="6811153" y="3497176"/>
            <a:ext cx="4730214" cy="2363724"/>
          </a:xfrm>
          <a:prstGeom prst="rect">
            <a:avLst/>
          </a:prstGeom>
          <a:noFill/>
          <a:extLst>
            <a:ext uri="{909E8E84-426E-40DD-AFC4-6F175D3DCCD1}">
              <a14:hiddenFill xmlns:a14="http://schemas.microsoft.com/office/drawing/2010/main">
                <a:solidFill>
                  <a:srgbClr val="FFFFFF"/>
                </a:solidFill>
              </a14:hiddenFill>
            </a:ext>
          </a:extLst>
        </p:spPr>
      </p:pic>
      <p:grpSp>
        <p:nvGrpSpPr>
          <p:cNvPr id="5148" name="Group 5147">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5149" name="Freeform: Shape 5148">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150" name="Freeform: Shape 5149">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151" name="Freeform: Shape 5150">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152" name="Freeform: Shape 5151">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153" name="Freeform: Shape 5152">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154" name="Freeform: Shape 5153">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155" name="Freeform: Shape 5154">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7A95453F-0024-21EB-E1A0-C6B47978DFCA}"/>
              </a:ext>
            </a:extLst>
          </p:cNvPr>
          <p:cNvSpPr>
            <a:spLocks noGrp="1"/>
          </p:cNvSpPr>
          <p:nvPr>
            <p:ph type="title"/>
          </p:nvPr>
        </p:nvSpPr>
        <p:spPr>
          <a:xfrm>
            <a:off x="786384" y="841249"/>
            <a:ext cx="5692953" cy="2594302"/>
          </a:xfrm>
        </p:spPr>
        <p:txBody>
          <a:bodyPr anchor="b">
            <a:normAutofit/>
          </a:bodyPr>
          <a:lstStyle/>
          <a:p>
            <a:r>
              <a:rPr lang="en-US" sz="4800">
                <a:solidFill>
                  <a:schemeClr val="bg1"/>
                </a:solidFill>
              </a:rPr>
              <a:t>KHULNA</a:t>
            </a:r>
          </a:p>
        </p:txBody>
      </p:sp>
      <p:sp>
        <p:nvSpPr>
          <p:cNvPr id="3" name="Content Placeholder 2">
            <a:extLst>
              <a:ext uri="{FF2B5EF4-FFF2-40B4-BE49-F238E27FC236}">
                <a16:creationId xmlns:a16="http://schemas.microsoft.com/office/drawing/2014/main" id="{591D5962-DEE8-FBB9-5822-0269DC3FA510}"/>
              </a:ext>
            </a:extLst>
          </p:cNvPr>
          <p:cNvSpPr>
            <a:spLocks noGrp="1"/>
          </p:cNvSpPr>
          <p:nvPr>
            <p:ph idx="1"/>
          </p:nvPr>
        </p:nvSpPr>
        <p:spPr>
          <a:xfrm>
            <a:off x="786383" y="3566810"/>
            <a:ext cx="5692953" cy="2651110"/>
          </a:xfrm>
        </p:spPr>
        <p:txBody>
          <a:bodyPr anchor="ctr">
            <a:normAutofit/>
          </a:bodyPr>
          <a:lstStyle/>
          <a:p>
            <a:r>
              <a:rPr lang="en-US" sz="1800" b="1" i="0">
                <a:solidFill>
                  <a:schemeClr val="tx2"/>
                </a:solidFill>
                <a:effectLst/>
                <a:latin typeface="Arial" panose="020B0604020202020204" pitchFamily="34" charset="0"/>
              </a:rPr>
              <a:t>Dhaka Division</a:t>
            </a:r>
            <a:r>
              <a:rPr lang="en-US" sz="1800" b="0" i="0">
                <a:solidFill>
                  <a:schemeClr val="tx2"/>
                </a:solidFill>
                <a:effectLst/>
                <a:latin typeface="Arial" panose="020B0604020202020204" pitchFamily="34" charset="0"/>
              </a:rPr>
              <a:t> is one of the eight administrative </a:t>
            </a:r>
            <a:r>
              <a:rPr lang="en-US" sz="1800" b="0" i="0" u="none" strike="noStrike">
                <a:solidFill>
                  <a:schemeClr val="tx2"/>
                </a:solidFill>
                <a:effectLst/>
                <a:latin typeface="Arial" panose="020B0604020202020204" pitchFamily="34" charset="0"/>
                <a:hlinkClick r:id="rId4" tooltip="Departments of Bangladesh"/>
              </a:rPr>
              <a:t>divisions of </a:t>
            </a:r>
            <a:r>
              <a:rPr lang="en-US" sz="1800" b="0" i="0" u="none" strike="noStrike">
                <a:solidFill>
                  <a:schemeClr val="tx2"/>
                </a:solidFill>
                <a:effectLst/>
                <a:latin typeface="Arial" panose="020B0604020202020204" pitchFamily="34" charset="0"/>
                <a:hlinkClick r:id="rId5" tooltip="Bangladesh"/>
              </a:rPr>
              <a:t>Bangladesh</a:t>
            </a:r>
            <a:r>
              <a:rPr lang="en-US" sz="1800" b="0" i="0">
                <a:solidFill>
                  <a:schemeClr val="tx2"/>
                </a:solidFill>
                <a:effectLst/>
                <a:latin typeface="Arial" panose="020B0604020202020204" pitchFamily="34" charset="0"/>
              </a:rPr>
              <a:t> . It is located in the central region of Bangladesh.</a:t>
            </a:r>
          </a:p>
          <a:p>
            <a:r>
              <a:rPr lang="en-US" sz="1800" b="0" i="0">
                <a:solidFill>
                  <a:schemeClr val="tx2"/>
                </a:solidFill>
                <a:effectLst/>
                <a:latin typeface="Arial" panose="020B0604020202020204" pitchFamily="34" charset="0"/>
              </a:rPr>
              <a:t>Dhaka Division's GDP is $221.73 billion and GDP PPP is $497 billion.</a:t>
            </a:r>
          </a:p>
          <a:p>
            <a:r>
              <a:rPr lang="en-US" sz="1800" b="0" i="0">
                <a:solidFill>
                  <a:schemeClr val="tx2"/>
                </a:solidFill>
                <a:effectLst/>
                <a:latin typeface="Arial" panose="020B0604020202020204" pitchFamily="34" charset="0"/>
              </a:rPr>
              <a:t>The largest district in Dhaka Division by area is </a:t>
            </a:r>
            <a:r>
              <a:rPr lang="en-US" sz="1800" b="0" i="0" u="none" strike="noStrike">
                <a:solidFill>
                  <a:schemeClr val="tx2"/>
                </a:solidFill>
                <a:effectLst/>
                <a:latin typeface="Arial" panose="020B0604020202020204" pitchFamily="34" charset="0"/>
                <a:hlinkClick r:id="rId6" tooltip="Tangail District"/>
              </a:rPr>
              <a:t>Tangail District</a:t>
            </a:r>
            <a:r>
              <a:rPr lang="en-US" sz="1800" b="0" i="0">
                <a:solidFill>
                  <a:schemeClr val="tx2"/>
                </a:solidFill>
                <a:effectLst/>
                <a:latin typeface="Arial" panose="020B0604020202020204" pitchFamily="34" charset="0"/>
              </a:rPr>
              <a:t> and the smallest district is </a:t>
            </a:r>
            <a:r>
              <a:rPr lang="en-US" sz="1800" b="0" i="0" u="none" strike="noStrike">
                <a:solidFill>
                  <a:schemeClr val="tx2"/>
                </a:solidFill>
                <a:effectLst/>
                <a:latin typeface="Arial" panose="020B0604020202020204" pitchFamily="34" charset="0"/>
                <a:hlinkClick r:id="rId7" tooltip="Narayanganj District"/>
              </a:rPr>
              <a:t>Narayanganj District</a:t>
            </a:r>
            <a:r>
              <a:rPr lang="en-US" sz="1800" b="0" i="0">
                <a:solidFill>
                  <a:schemeClr val="tx2"/>
                </a:solidFill>
                <a:effectLst/>
                <a:latin typeface="Arial" panose="020B0604020202020204" pitchFamily="34" charset="0"/>
              </a:rPr>
              <a:t> .</a:t>
            </a:r>
          </a:p>
          <a:p>
            <a:endParaRPr lang="en-US" sz="1800">
              <a:solidFill>
                <a:schemeClr val="tx2"/>
              </a:solidFill>
            </a:endParaRPr>
          </a:p>
        </p:txBody>
      </p:sp>
    </p:spTree>
    <p:extLst>
      <p:ext uri="{BB962C8B-B14F-4D97-AF65-F5344CB8AC3E}">
        <p14:creationId xmlns:p14="http://schemas.microsoft.com/office/powerpoint/2010/main" val="414410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5" name="Rectangle 6154">
            <a:extLst>
              <a:ext uri="{FF2B5EF4-FFF2-40B4-BE49-F238E27FC236}">
                <a16:creationId xmlns:a16="http://schemas.microsoft.com/office/drawing/2014/main" id="{C29C59CE-9D5A-4E64-9F64-161998AB2D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76159C-355F-BFF7-FCFB-6BA779A937CC}"/>
              </a:ext>
            </a:extLst>
          </p:cNvPr>
          <p:cNvSpPr>
            <a:spLocks noGrp="1"/>
          </p:cNvSpPr>
          <p:nvPr>
            <p:ph type="title"/>
          </p:nvPr>
        </p:nvSpPr>
        <p:spPr>
          <a:xfrm>
            <a:off x="6501809" y="365125"/>
            <a:ext cx="4851990" cy="2068086"/>
          </a:xfrm>
        </p:spPr>
        <p:txBody>
          <a:bodyPr anchor="b">
            <a:normAutofit/>
          </a:bodyPr>
          <a:lstStyle/>
          <a:p>
            <a:r>
              <a:rPr lang="en-US" sz="5400"/>
              <a:t>RAJSHAHI</a:t>
            </a:r>
          </a:p>
        </p:txBody>
      </p:sp>
      <p:pic>
        <p:nvPicPr>
          <p:cNvPr id="6148" name="Picture 4">
            <a:extLst>
              <a:ext uri="{FF2B5EF4-FFF2-40B4-BE49-F238E27FC236}">
                <a16:creationId xmlns:a16="http://schemas.microsoft.com/office/drawing/2014/main" id="{6C700039-A429-33BC-B1D3-70ADFEE737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3723" r="-2" b="-2"/>
          <a:stretch/>
        </p:blipFill>
        <p:spPr bwMode="auto">
          <a:xfrm>
            <a:off x="2" y="2"/>
            <a:ext cx="2873113" cy="2520153"/>
          </a:xfrm>
          <a:custGeom>
            <a:avLst/>
            <a:gdLst/>
            <a:ahLst/>
            <a:cxnLst/>
            <a:rect l="l" t="t" r="r" b="b"/>
            <a:pathLst>
              <a:path w="2873113" h="2520153">
                <a:moveTo>
                  <a:pt x="0" y="0"/>
                </a:moveTo>
                <a:lnTo>
                  <a:pt x="2863050" y="0"/>
                </a:lnTo>
                <a:lnTo>
                  <a:pt x="2860357" y="23417"/>
                </a:lnTo>
                <a:cubicBezTo>
                  <a:pt x="2854714" y="58297"/>
                  <a:pt x="2848787" y="93209"/>
                  <a:pt x="2846577" y="128562"/>
                </a:cubicBezTo>
                <a:cubicBezTo>
                  <a:pt x="2835325" y="313204"/>
                  <a:pt x="2844701" y="497594"/>
                  <a:pt x="2857292" y="681606"/>
                </a:cubicBezTo>
                <a:cubicBezTo>
                  <a:pt x="2874974" y="930009"/>
                  <a:pt x="2873501" y="1179283"/>
                  <a:pt x="2852872" y="1427485"/>
                </a:cubicBezTo>
                <a:cubicBezTo>
                  <a:pt x="2831655" y="1647555"/>
                  <a:pt x="2835660" y="1869138"/>
                  <a:pt x="2864794" y="2088415"/>
                </a:cubicBezTo>
                <a:cubicBezTo>
                  <a:pt x="2882609" y="2212685"/>
                  <a:pt x="2866535" y="2338091"/>
                  <a:pt x="2864794" y="2462992"/>
                </a:cubicBezTo>
                <a:lnTo>
                  <a:pt x="2863832" y="2503401"/>
                </a:lnTo>
                <a:lnTo>
                  <a:pt x="2759379" y="2506812"/>
                </a:lnTo>
                <a:cubicBezTo>
                  <a:pt x="2718815" y="2505399"/>
                  <a:pt x="2678327" y="2501250"/>
                  <a:pt x="2638141" y="2494371"/>
                </a:cubicBezTo>
                <a:cubicBezTo>
                  <a:pt x="2542898" y="2477013"/>
                  <a:pt x="2447655" y="2484775"/>
                  <a:pt x="2352412" y="2491125"/>
                </a:cubicBezTo>
                <a:cubicBezTo>
                  <a:pt x="2090938" y="2508483"/>
                  <a:pt x="1829464" y="2529652"/>
                  <a:pt x="1567101" y="2515539"/>
                </a:cubicBezTo>
                <a:cubicBezTo>
                  <a:pt x="1511098" y="2512576"/>
                  <a:pt x="1456492" y="2499593"/>
                  <a:pt x="1400871" y="2494229"/>
                </a:cubicBezTo>
                <a:cubicBezTo>
                  <a:pt x="1239211" y="2478564"/>
                  <a:pt x="1078187" y="2496912"/>
                  <a:pt x="916909" y="2504391"/>
                </a:cubicBezTo>
                <a:cubicBezTo>
                  <a:pt x="738423" y="2515144"/>
                  <a:pt x="559493" y="2512971"/>
                  <a:pt x="381262" y="2497899"/>
                </a:cubicBezTo>
                <a:cubicBezTo>
                  <a:pt x="284495" y="2488444"/>
                  <a:pt x="187601" y="2485233"/>
                  <a:pt x="90675" y="2486397"/>
                </a:cubicBezTo>
                <a:lnTo>
                  <a:pt x="0" y="2490996"/>
                </a:lnTo>
                <a:close/>
              </a:path>
            </a:pathLst>
          </a:custGeom>
          <a:noFill/>
          <a:extLst>
            <a:ext uri="{909E8E84-426E-40DD-AFC4-6F175D3DCCD1}">
              <a14:hiddenFill xmlns:a14="http://schemas.microsoft.com/office/drawing/2010/main">
                <a:solidFill>
                  <a:srgbClr val="FFFFFF"/>
                </a:solidFill>
              </a14:hiddenFill>
            </a:ext>
          </a:extLst>
        </p:spPr>
      </p:pic>
      <p:pic>
        <p:nvPicPr>
          <p:cNvPr id="6146" name="Picture 2">
            <a:extLst>
              <a:ext uri="{FF2B5EF4-FFF2-40B4-BE49-F238E27FC236}">
                <a16:creationId xmlns:a16="http://schemas.microsoft.com/office/drawing/2014/main" id="{B99DA3A2-3D35-5F93-B5FD-82D8644092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3448" r="11730" b="-2"/>
          <a:stretch/>
        </p:blipFill>
        <p:spPr bwMode="auto">
          <a:xfrm>
            <a:off x="3060436" y="10"/>
            <a:ext cx="2843573" cy="2524624"/>
          </a:xfrm>
          <a:custGeom>
            <a:avLst/>
            <a:gdLst/>
            <a:ahLst/>
            <a:cxnLst/>
            <a:rect l="l" t="t" r="r" b="b"/>
            <a:pathLst>
              <a:path w="2843573" h="2524634">
                <a:moveTo>
                  <a:pt x="26682" y="0"/>
                </a:moveTo>
                <a:lnTo>
                  <a:pt x="2822452" y="0"/>
                </a:lnTo>
                <a:lnTo>
                  <a:pt x="2820993" y="10824"/>
                </a:lnTo>
                <a:cubicBezTo>
                  <a:pt x="2808235" y="122326"/>
                  <a:pt x="2818697" y="233190"/>
                  <a:pt x="2829285" y="343799"/>
                </a:cubicBezTo>
                <a:cubicBezTo>
                  <a:pt x="2840997" y="479092"/>
                  <a:pt x="2837348" y="615270"/>
                  <a:pt x="2818441" y="749749"/>
                </a:cubicBezTo>
                <a:cubicBezTo>
                  <a:pt x="2807788" y="840800"/>
                  <a:pt x="2808044" y="932796"/>
                  <a:pt x="2819207" y="1023783"/>
                </a:cubicBezTo>
                <a:cubicBezTo>
                  <a:pt x="2837578" y="1193205"/>
                  <a:pt x="2863349" y="1363775"/>
                  <a:pt x="2819207" y="1534090"/>
                </a:cubicBezTo>
                <a:cubicBezTo>
                  <a:pt x="2800453" y="1606554"/>
                  <a:pt x="2806449" y="1682589"/>
                  <a:pt x="2816911" y="1756456"/>
                </a:cubicBezTo>
                <a:cubicBezTo>
                  <a:pt x="2833853" y="1883025"/>
                  <a:pt x="2834796" y="2011227"/>
                  <a:pt x="2819717" y="2138038"/>
                </a:cubicBezTo>
                <a:cubicBezTo>
                  <a:pt x="2811335" y="2205118"/>
                  <a:pt x="2811679" y="2273002"/>
                  <a:pt x="2820738" y="2339992"/>
                </a:cubicBezTo>
                <a:cubicBezTo>
                  <a:pt x="2827117" y="2381582"/>
                  <a:pt x="2826415" y="2423364"/>
                  <a:pt x="2825315" y="2465177"/>
                </a:cubicBezTo>
                <a:lnTo>
                  <a:pt x="2825058" y="2479654"/>
                </a:lnTo>
                <a:lnTo>
                  <a:pt x="2679762" y="2483128"/>
                </a:lnTo>
                <a:cubicBezTo>
                  <a:pt x="2618897" y="2485860"/>
                  <a:pt x="2558084" y="2490067"/>
                  <a:pt x="2497351" y="2496347"/>
                </a:cubicBezTo>
                <a:cubicBezTo>
                  <a:pt x="2332771" y="2513422"/>
                  <a:pt x="2168953" y="2506649"/>
                  <a:pt x="2004501" y="2503544"/>
                </a:cubicBezTo>
                <a:cubicBezTo>
                  <a:pt x="1819728" y="2500017"/>
                  <a:pt x="1634831" y="2501710"/>
                  <a:pt x="1450058" y="2501710"/>
                </a:cubicBezTo>
                <a:cubicBezTo>
                  <a:pt x="1369673" y="2501992"/>
                  <a:pt x="1289796" y="2497193"/>
                  <a:pt x="1209792" y="2489009"/>
                </a:cubicBezTo>
                <a:cubicBezTo>
                  <a:pt x="1093723" y="2477295"/>
                  <a:pt x="978288" y="2491407"/>
                  <a:pt x="863997" y="2510177"/>
                </a:cubicBezTo>
                <a:cubicBezTo>
                  <a:pt x="784361" y="2521298"/>
                  <a:pt x="704102" y="2526010"/>
                  <a:pt x="623857" y="2524289"/>
                </a:cubicBezTo>
                <a:cubicBezTo>
                  <a:pt x="427783" y="2524430"/>
                  <a:pt x="232091" y="2514693"/>
                  <a:pt x="36524" y="2497052"/>
                </a:cubicBezTo>
                <a:lnTo>
                  <a:pt x="13350" y="2496674"/>
                </a:lnTo>
                <a:lnTo>
                  <a:pt x="17533" y="2292198"/>
                </a:lnTo>
                <a:cubicBezTo>
                  <a:pt x="19808" y="2209062"/>
                  <a:pt x="21290" y="2125926"/>
                  <a:pt x="17874" y="2042789"/>
                </a:cubicBezTo>
                <a:cubicBezTo>
                  <a:pt x="8899" y="1823109"/>
                  <a:pt x="-1415" y="1603430"/>
                  <a:pt x="13052" y="1383876"/>
                </a:cubicBezTo>
                <a:cubicBezTo>
                  <a:pt x="22963" y="1233390"/>
                  <a:pt x="35957" y="1082147"/>
                  <a:pt x="31938" y="930905"/>
                </a:cubicBezTo>
                <a:cubicBezTo>
                  <a:pt x="27652" y="775629"/>
                  <a:pt x="13587" y="620983"/>
                  <a:pt x="3274" y="466086"/>
                </a:cubicBezTo>
                <a:cubicBezTo>
                  <a:pt x="-4187" y="352451"/>
                  <a:pt x="1117" y="238378"/>
                  <a:pt x="19079" y="125790"/>
                </a:cubicBezTo>
                <a:cubicBezTo>
                  <a:pt x="25442" y="85647"/>
                  <a:pt x="27250" y="45378"/>
                  <a:pt x="26899" y="5094"/>
                </a:cubicBezTo>
                <a:close/>
              </a:path>
            </a:pathLst>
          </a:custGeom>
          <a:noFill/>
          <a:extLst>
            <a:ext uri="{909E8E84-426E-40DD-AFC4-6F175D3DCCD1}">
              <a14:hiddenFill xmlns:a14="http://schemas.microsoft.com/office/drawing/2010/main">
                <a:solidFill>
                  <a:srgbClr val="FFFFFF"/>
                </a:solidFill>
              </a14:hiddenFill>
            </a:ext>
          </a:extLst>
        </p:spPr>
      </p:pic>
      <p:sp>
        <p:nvSpPr>
          <p:cNvPr id="6157" name="sketch line">
            <a:extLst>
              <a:ext uri="{FF2B5EF4-FFF2-40B4-BE49-F238E27FC236}">
                <a16:creationId xmlns:a16="http://schemas.microsoft.com/office/drawing/2014/main" id="{2EA3E16E-E32B-4992-ADBC-EA9C33A6FE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01809" y="2579272"/>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50" name="Picture 6">
            <a:extLst>
              <a:ext uri="{FF2B5EF4-FFF2-40B4-BE49-F238E27FC236}">
                <a16:creationId xmlns:a16="http://schemas.microsoft.com/office/drawing/2014/main" id="{27169963-34F7-941A-3609-52C3AF0296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4711" r="-1" b="-1"/>
          <a:stretch/>
        </p:blipFill>
        <p:spPr bwMode="auto">
          <a:xfrm>
            <a:off x="1" y="2716074"/>
            <a:ext cx="5909625" cy="4141924"/>
          </a:xfrm>
          <a:custGeom>
            <a:avLst/>
            <a:gdLst/>
            <a:ahLst/>
            <a:cxnLst/>
            <a:rect l="l" t="t" r="r" b="b"/>
            <a:pathLst>
              <a:path w="5909625" h="4141924">
                <a:moveTo>
                  <a:pt x="1823444" y="1329"/>
                </a:moveTo>
                <a:cubicBezTo>
                  <a:pt x="1893960" y="3895"/>
                  <a:pt x="1964367" y="10183"/>
                  <a:pt x="2034428" y="20181"/>
                </a:cubicBezTo>
                <a:cubicBezTo>
                  <a:pt x="2139449" y="36834"/>
                  <a:pt x="2245360" y="26532"/>
                  <a:pt x="2350889" y="19476"/>
                </a:cubicBezTo>
                <a:cubicBezTo>
                  <a:pt x="2478642" y="10867"/>
                  <a:pt x="2606268" y="6210"/>
                  <a:pt x="2734275" y="20323"/>
                </a:cubicBezTo>
                <a:cubicBezTo>
                  <a:pt x="2825326" y="30483"/>
                  <a:pt x="2916886" y="21029"/>
                  <a:pt x="3008193" y="15383"/>
                </a:cubicBezTo>
                <a:cubicBezTo>
                  <a:pt x="3103486" y="8045"/>
                  <a:pt x="3199137" y="8045"/>
                  <a:pt x="3294430" y="15383"/>
                </a:cubicBezTo>
                <a:cubicBezTo>
                  <a:pt x="3381546" y="22750"/>
                  <a:pt x="3469080" y="21000"/>
                  <a:pt x="3555904" y="10161"/>
                </a:cubicBezTo>
                <a:cubicBezTo>
                  <a:pt x="3657497" y="-1693"/>
                  <a:pt x="3759089" y="7480"/>
                  <a:pt x="3860682" y="16089"/>
                </a:cubicBezTo>
                <a:cubicBezTo>
                  <a:pt x="4039485" y="31472"/>
                  <a:pt x="4218161" y="24557"/>
                  <a:pt x="4396583" y="13266"/>
                </a:cubicBezTo>
                <a:cubicBezTo>
                  <a:pt x="4519422" y="6041"/>
                  <a:pt x="4642589" y="10007"/>
                  <a:pt x="4764856" y="25121"/>
                </a:cubicBezTo>
                <a:cubicBezTo>
                  <a:pt x="4813493" y="30483"/>
                  <a:pt x="4862258" y="29496"/>
                  <a:pt x="4911023" y="30483"/>
                </a:cubicBezTo>
                <a:cubicBezTo>
                  <a:pt x="4915721" y="30625"/>
                  <a:pt x="4920801" y="29108"/>
                  <a:pt x="4925690" y="28984"/>
                </a:cubicBezTo>
                <a:lnTo>
                  <a:pt x="4927821" y="30065"/>
                </a:lnTo>
                <a:lnTo>
                  <a:pt x="4960258" y="27641"/>
                </a:lnTo>
                <a:lnTo>
                  <a:pt x="4964870" y="27986"/>
                </a:lnTo>
                <a:lnTo>
                  <a:pt x="4964882" y="27978"/>
                </a:lnTo>
                <a:cubicBezTo>
                  <a:pt x="4969755" y="27908"/>
                  <a:pt x="4974899" y="29284"/>
                  <a:pt x="4979471" y="28790"/>
                </a:cubicBezTo>
                <a:cubicBezTo>
                  <a:pt x="5154578" y="12123"/>
                  <a:pt x="5330536" y="9611"/>
                  <a:pt x="5505974" y="21310"/>
                </a:cubicBezTo>
                <a:cubicBezTo>
                  <a:pt x="5586740" y="25614"/>
                  <a:pt x="5667442" y="25544"/>
                  <a:pt x="5748129" y="23092"/>
                </a:cubicBezTo>
                <a:lnTo>
                  <a:pt x="5892006" y="15658"/>
                </a:lnTo>
                <a:lnTo>
                  <a:pt x="5894187" y="91357"/>
                </a:lnTo>
                <a:cubicBezTo>
                  <a:pt x="5891252" y="119679"/>
                  <a:pt x="5887042" y="148001"/>
                  <a:pt x="5881429" y="176068"/>
                </a:cubicBezTo>
                <a:cubicBezTo>
                  <a:pt x="5868671" y="240494"/>
                  <a:pt x="5878112" y="303645"/>
                  <a:pt x="5888063" y="367433"/>
                </a:cubicBezTo>
                <a:cubicBezTo>
                  <a:pt x="5896291" y="414790"/>
                  <a:pt x="5896291" y="463218"/>
                  <a:pt x="5888063" y="510574"/>
                </a:cubicBezTo>
                <a:cubicBezTo>
                  <a:pt x="5868926" y="612636"/>
                  <a:pt x="5879515" y="714697"/>
                  <a:pt x="5889083" y="815610"/>
                </a:cubicBezTo>
                <a:cubicBezTo>
                  <a:pt x="5901841" y="951224"/>
                  <a:pt x="5908220" y="1085690"/>
                  <a:pt x="5876326" y="1220284"/>
                </a:cubicBezTo>
                <a:cubicBezTo>
                  <a:pt x="5856296" y="1304994"/>
                  <a:pt x="5872754" y="1390981"/>
                  <a:pt x="5883342" y="1475437"/>
                </a:cubicBezTo>
                <a:cubicBezTo>
                  <a:pt x="5891354" y="1538243"/>
                  <a:pt x="5892298" y="1601751"/>
                  <a:pt x="5886149" y="1664761"/>
                </a:cubicBezTo>
                <a:cubicBezTo>
                  <a:pt x="5876836" y="1760329"/>
                  <a:pt x="5880140" y="1856713"/>
                  <a:pt x="5895972" y="1951426"/>
                </a:cubicBezTo>
                <a:cubicBezTo>
                  <a:pt x="5905362" y="2004791"/>
                  <a:pt x="5901727" y="2059623"/>
                  <a:pt x="5885384" y="2111279"/>
                </a:cubicBezTo>
                <a:cubicBezTo>
                  <a:pt x="5861527" y="2185401"/>
                  <a:pt x="5875943" y="2261054"/>
                  <a:pt x="5885384" y="2335942"/>
                </a:cubicBezTo>
                <a:cubicBezTo>
                  <a:pt x="5899545" y="2453440"/>
                  <a:pt x="5916513" y="2570683"/>
                  <a:pt x="5906434" y="2689584"/>
                </a:cubicBezTo>
                <a:cubicBezTo>
                  <a:pt x="5904839" y="2722155"/>
                  <a:pt x="5900310" y="2754521"/>
                  <a:pt x="5892910" y="2786288"/>
                </a:cubicBezTo>
                <a:cubicBezTo>
                  <a:pt x="5859473" y="2908978"/>
                  <a:pt x="5857980" y="3038188"/>
                  <a:pt x="5888573" y="3161618"/>
                </a:cubicBezTo>
                <a:cubicBezTo>
                  <a:pt x="5920978" y="3294426"/>
                  <a:pt x="5914089" y="3426468"/>
                  <a:pt x="5880791" y="3558127"/>
                </a:cubicBezTo>
                <a:cubicBezTo>
                  <a:pt x="5844074" y="3697862"/>
                  <a:pt x="5840847" y="3844294"/>
                  <a:pt x="5871350" y="3985509"/>
                </a:cubicBezTo>
                <a:lnTo>
                  <a:pt x="5884107" y="4141924"/>
                </a:lnTo>
                <a:lnTo>
                  <a:pt x="0" y="4141924"/>
                </a:lnTo>
                <a:lnTo>
                  <a:pt x="0" y="18996"/>
                </a:lnTo>
                <a:lnTo>
                  <a:pt x="114789" y="16636"/>
                </a:lnTo>
                <a:cubicBezTo>
                  <a:pt x="229350" y="12949"/>
                  <a:pt x="343737" y="7904"/>
                  <a:pt x="457838" y="9315"/>
                </a:cubicBezTo>
                <a:cubicBezTo>
                  <a:pt x="553081" y="10444"/>
                  <a:pt x="648070" y="31612"/>
                  <a:pt x="743567" y="27661"/>
                </a:cubicBezTo>
                <a:cubicBezTo>
                  <a:pt x="1032979" y="16089"/>
                  <a:pt x="1322518" y="19899"/>
                  <a:pt x="1611803" y="4799"/>
                </a:cubicBezTo>
                <a:cubicBezTo>
                  <a:pt x="1682301" y="-85"/>
                  <a:pt x="1752927" y="-1238"/>
                  <a:pt x="1823444" y="1329"/>
                </a:cubicBez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5DB1939C-4A19-CCB5-5302-0DCBA8BE1D35}"/>
              </a:ext>
            </a:extLst>
          </p:cNvPr>
          <p:cNvSpPr>
            <a:spLocks noGrp="1"/>
          </p:cNvSpPr>
          <p:nvPr>
            <p:ph idx="1"/>
          </p:nvPr>
        </p:nvSpPr>
        <p:spPr>
          <a:xfrm>
            <a:off x="6501809" y="2846851"/>
            <a:ext cx="4851990" cy="3330111"/>
          </a:xfrm>
        </p:spPr>
        <p:txBody>
          <a:bodyPr>
            <a:normAutofit/>
          </a:bodyPr>
          <a:lstStyle/>
          <a:p>
            <a:r>
              <a:rPr lang="en-US" sz="1500" b="1" i="0">
                <a:effectLst/>
                <a:latin typeface="Arial" panose="020B0604020202020204" pitchFamily="34" charset="0"/>
              </a:rPr>
              <a:t>Rajshahi Division</a:t>
            </a:r>
            <a:r>
              <a:rPr lang="en-US" sz="1500" b="0" i="0">
                <a:effectLst/>
                <a:latin typeface="Arial" panose="020B0604020202020204" pitchFamily="34" charset="0"/>
              </a:rPr>
              <a:t> (</a:t>
            </a:r>
            <a:r>
              <a:rPr lang="en-US" sz="1500" b="0" i="0" u="none" strike="noStrike">
                <a:effectLst/>
                <a:latin typeface="Arial" panose="020B0604020202020204" pitchFamily="34" charset="0"/>
                <a:hlinkClick r:id="rId5" tooltip="Bengali language"/>
              </a:rPr>
              <a:t>Bengali</a:t>
            </a:r>
            <a:r>
              <a:rPr lang="en-US" sz="1500" b="0" i="0">
                <a:effectLst/>
                <a:latin typeface="Arial" panose="020B0604020202020204" pitchFamily="34" charset="0"/>
              </a:rPr>
              <a:t>: রাজশাহী বিভাগ) is one of the eight first-level administrative </a:t>
            </a:r>
            <a:r>
              <a:rPr lang="en-US" sz="1500" b="0" i="0" u="none" strike="noStrike">
                <a:effectLst/>
                <a:latin typeface="Arial" panose="020B0604020202020204" pitchFamily="34" charset="0"/>
                <a:hlinkClick r:id="rId6" tooltip="Divisions of Bangladesh"/>
              </a:rPr>
              <a:t>divisions of Bangladesh</a:t>
            </a:r>
            <a:r>
              <a:rPr lang="en-US" sz="1500" b="0" i="0">
                <a:effectLst/>
                <a:latin typeface="Arial" panose="020B0604020202020204" pitchFamily="34" charset="0"/>
              </a:rPr>
              <a:t>. It has an area of 18,174.4 square kilometres (7,017.2 sq mi)</a:t>
            </a:r>
            <a:r>
              <a:rPr lang="en-US" sz="1500" b="0" i="0" u="none" strike="noStrike" baseline="30000">
                <a:effectLst/>
                <a:latin typeface="Arial" panose="020B0604020202020204" pitchFamily="34" charset="0"/>
                <a:hlinkClick r:id="rId7"/>
              </a:rPr>
              <a:t>[6]</a:t>
            </a:r>
            <a:r>
              <a:rPr lang="en-US" sz="1500" b="0" i="0">
                <a:effectLst/>
                <a:latin typeface="Arial" panose="020B0604020202020204" pitchFamily="34" charset="0"/>
              </a:rPr>
              <a:t> and a population at the 2022 Census of 20,353,119.</a:t>
            </a:r>
            <a:r>
              <a:rPr lang="en-US" sz="1500" b="0" i="0" u="none" strike="noStrike" baseline="30000">
                <a:effectLst/>
                <a:latin typeface="Arial" panose="020B0604020202020204" pitchFamily="34" charset="0"/>
                <a:hlinkClick r:id="rId8"/>
              </a:rPr>
              <a:t>[7]</a:t>
            </a:r>
            <a:r>
              <a:rPr lang="en-US" sz="1500" b="0" i="0">
                <a:effectLst/>
                <a:latin typeface="Arial" panose="020B0604020202020204" pitchFamily="34" charset="0"/>
              </a:rPr>
              <a:t> Rajshahi Division consists of 8 districts, 70 </a:t>
            </a:r>
            <a:r>
              <a:rPr lang="en-US" sz="1500" b="0" i="0" u="none" strike="noStrike">
                <a:effectLst/>
                <a:latin typeface="Arial" panose="020B0604020202020204" pitchFamily="34" charset="0"/>
                <a:hlinkClick r:id="rId9" tooltip="Upazila"/>
              </a:rPr>
              <a:t>Upazilas</a:t>
            </a:r>
            <a:r>
              <a:rPr lang="en-US" sz="1500" b="0" i="0">
                <a:effectLst/>
                <a:latin typeface="Arial" panose="020B0604020202020204" pitchFamily="34" charset="0"/>
              </a:rPr>
              <a:t> (the next lower administrative tier) and 1,092 </a:t>
            </a:r>
            <a:r>
              <a:rPr lang="en-US" sz="1500" b="0" i="0" u="none" strike="noStrike">
                <a:effectLst/>
                <a:latin typeface="Arial" panose="020B0604020202020204" pitchFamily="34" charset="0"/>
                <a:hlinkClick r:id="rId10" tooltip="Union councils of Bangladesh"/>
              </a:rPr>
              <a:t>Unions</a:t>
            </a:r>
            <a:r>
              <a:rPr lang="en-US" sz="1500" b="0" i="0">
                <a:effectLst/>
                <a:latin typeface="Arial" panose="020B0604020202020204" pitchFamily="34" charset="0"/>
              </a:rPr>
              <a:t> (the lowest administrative tier).</a:t>
            </a:r>
          </a:p>
          <a:p>
            <a:r>
              <a:rPr lang="en-US" sz="1500" b="0" i="0">
                <a:effectLst/>
                <a:latin typeface="Arial" panose="020B0604020202020204" pitchFamily="34" charset="0"/>
              </a:rPr>
              <a:t>The region has historically been dominated by various feudal </a:t>
            </a:r>
            <a:r>
              <a:rPr lang="en-US" sz="1500" b="0" i="0" u="none" strike="noStrike">
                <a:effectLst/>
                <a:latin typeface="Arial" panose="020B0604020202020204" pitchFamily="34" charset="0"/>
                <a:hlinkClick r:id="rId11" tooltip="Raja"/>
              </a:rPr>
              <a:t>Rajas</a:t>
            </a:r>
            <a:r>
              <a:rPr lang="en-US" sz="1500" b="0" i="0">
                <a:effectLst/>
                <a:latin typeface="Arial" panose="020B0604020202020204" pitchFamily="34" charset="0"/>
              </a:rPr>
              <a:t>, </a:t>
            </a:r>
            <a:r>
              <a:rPr lang="en-US" sz="1500" b="0" i="0" u="none" strike="noStrike">
                <a:effectLst/>
                <a:latin typeface="Arial" panose="020B0604020202020204" pitchFamily="34" charset="0"/>
                <a:hlinkClick r:id="rId12" tooltip="Maharaja"/>
              </a:rPr>
              <a:t>Maharajas</a:t>
            </a:r>
            <a:r>
              <a:rPr lang="en-US" sz="1500" b="0" i="0">
                <a:effectLst/>
                <a:latin typeface="Arial" panose="020B0604020202020204" pitchFamily="34" charset="0"/>
              </a:rPr>
              <a:t> and </a:t>
            </a:r>
            <a:r>
              <a:rPr lang="en-US" sz="1500" b="0" i="0" u="none" strike="noStrike">
                <a:effectLst/>
                <a:latin typeface="Arial" panose="020B0604020202020204" pitchFamily="34" charset="0"/>
                <a:hlinkClick r:id="rId13" tooltip="Zamindars"/>
              </a:rPr>
              <a:t>Zamindars</a:t>
            </a:r>
            <a:r>
              <a:rPr lang="en-US" sz="1500" b="0" i="0">
                <a:effectLst/>
                <a:latin typeface="Arial" panose="020B0604020202020204" pitchFamily="34" charset="0"/>
              </a:rPr>
              <a:t>.</a:t>
            </a:r>
            <a:r>
              <a:rPr lang="en-US" sz="1500" b="0" i="0" u="none" strike="noStrike" baseline="30000">
                <a:effectLst/>
                <a:latin typeface="Arial" panose="020B0604020202020204" pitchFamily="34" charset="0"/>
                <a:hlinkClick r:id="rId14"/>
              </a:rPr>
              <a:t>[8]</a:t>
            </a:r>
            <a:r>
              <a:rPr lang="en-US" sz="1500" b="0" i="0">
                <a:effectLst/>
                <a:latin typeface="Arial" panose="020B0604020202020204" pitchFamily="34" charset="0"/>
              </a:rPr>
              <a:t> Formerly comprising 16 districts, a new division (</a:t>
            </a:r>
            <a:r>
              <a:rPr lang="en-US" sz="1500" b="0" i="0" u="none" strike="noStrike">
                <a:effectLst/>
                <a:latin typeface="Arial" panose="020B0604020202020204" pitchFamily="34" charset="0"/>
                <a:hlinkClick r:id="rId15" tooltip="Rangpur Division"/>
              </a:rPr>
              <a:t>Rangpur Division</a:t>
            </a:r>
            <a:r>
              <a:rPr lang="en-US" sz="1500" b="0" i="0">
                <a:effectLst/>
                <a:latin typeface="Arial" panose="020B0604020202020204" pitchFamily="34" charset="0"/>
              </a:rPr>
              <a:t>) was formed with the 8 northern districts of the old Rajshahi Division from early 2010.</a:t>
            </a:r>
            <a:r>
              <a:rPr lang="en-US" sz="1500" b="0" i="0" u="sng" baseline="30000">
                <a:effectLst/>
                <a:latin typeface="Arial" panose="020B0604020202020204" pitchFamily="34" charset="0"/>
                <a:hlinkClick r:id="rId7"/>
              </a:rPr>
              <a:t>[</a:t>
            </a:r>
            <a:endParaRPr lang="en-US" sz="1500" b="0" i="0">
              <a:effectLst/>
              <a:latin typeface="Arial" panose="020B0604020202020204" pitchFamily="34" charset="0"/>
            </a:endParaRPr>
          </a:p>
          <a:p>
            <a:endParaRPr lang="en-US" sz="1500"/>
          </a:p>
        </p:txBody>
      </p:sp>
    </p:spTree>
    <p:extLst>
      <p:ext uri="{BB962C8B-B14F-4D97-AF65-F5344CB8AC3E}">
        <p14:creationId xmlns:p14="http://schemas.microsoft.com/office/powerpoint/2010/main" val="17244209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81" name="Rectangle 7180">
            <a:extLst>
              <a:ext uri="{FF2B5EF4-FFF2-40B4-BE49-F238E27FC236}">
                <a16:creationId xmlns:a16="http://schemas.microsoft.com/office/drawing/2014/main" id="{BDF1A630-2A9B-41A0-92F9-FDA261070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83" name="Group 7182">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7184" name="Rectangle 7183">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5" name="Rectangle 7184">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187" name="Rectangle 7186">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2B1B5C-8014-410E-3FB1-BE073B9801D8}"/>
              </a:ext>
            </a:extLst>
          </p:cNvPr>
          <p:cNvSpPr>
            <a:spLocks noGrp="1"/>
          </p:cNvSpPr>
          <p:nvPr>
            <p:ph type="title"/>
          </p:nvPr>
        </p:nvSpPr>
        <p:spPr>
          <a:xfrm>
            <a:off x="1057025" y="922644"/>
            <a:ext cx="5040285" cy="1169585"/>
          </a:xfrm>
        </p:spPr>
        <p:txBody>
          <a:bodyPr anchor="b">
            <a:normAutofit/>
          </a:bodyPr>
          <a:lstStyle/>
          <a:p>
            <a:r>
              <a:rPr lang="en-US" sz="4000"/>
              <a:t>RANGPUR</a:t>
            </a:r>
          </a:p>
        </p:txBody>
      </p:sp>
      <p:sp>
        <p:nvSpPr>
          <p:cNvPr id="7189" name="Rectangle 7188">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895A435-45E1-3FE5-9C3D-FDE102B46362}"/>
              </a:ext>
            </a:extLst>
          </p:cNvPr>
          <p:cNvSpPr>
            <a:spLocks noGrp="1"/>
          </p:cNvSpPr>
          <p:nvPr>
            <p:ph idx="1"/>
          </p:nvPr>
        </p:nvSpPr>
        <p:spPr>
          <a:xfrm>
            <a:off x="1055715" y="2508105"/>
            <a:ext cx="5040285" cy="3632493"/>
          </a:xfrm>
        </p:spPr>
        <p:txBody>
          <a:bodyPr anchor="ctr">
            <a:normAutofit/>
          </a:bodyPr>
          <a:lstStyle/>
          <a:p>
            <a:r>
              <a:rPr lang="en-US" sz="1700">
                <a:latin typeface="Aptos" panose="020B0004020202020204" pitchFamily="34" charset="0"/>
              </a:rPr>
              <a:t>Rangpur Division is a first-level administrative division of Bangladesh. It covers the northernmost part of the country with a population of about 18 million inhabitants within an area of 16,184.99 km2 (6,249.06 sq mi). Rangpur Division shares border with the Rajshahi and Mymensingh divisions. It is also bordered by the Indian states of West Bengal, Assam and Meghalaya and separated from Bhutan and Nepal by the Siliguri Corridor, and from China by the Indian state of Sikkim. Rangpur City is the administrative headquarter and the largest city. Rangpur Division includes the Teesta and Jamuna rivers.</a:t>
            </a:r>
          </a:p>
        </p:txBody>
      </p:sp>
      <p:pic>
        <p:nvPicPr>
          <p:cNvPr id="7176" name="Picture 8">
            <a:extLst>
              <a:ext uri="{FF2B5EF4-FFF2-40B4-BE49-F238E27FC236}">
                <a16:creationId xmlns:a16="http://schemas.microsoft.com/office/drawing/2014/main" id="{8E457FFD-FFFE-B561-8384-954E3AEA7B5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46666" y="980095"/>
            <a:ext cx="2112264" cy="1588052"/>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a:extLst>
              <a:ext uri="{FF2B5EF4-FFF2-40B4-BE49-F238E27FC236}">
                <a16:creationId xmlns:a16="http://schemas.microsoft.com/office/drawing/2014/main" id="{3934C393-21ED-AF74-0F5D-FDC577E1F01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223523" y="1070033"/>
            <a:ext cx="2112264" cy="1408176"/>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070B87A9-1099-80D3-342D-7ACFBF3BC7D5}"/>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946667" y="3086435"/>
            <a:ext cx="4389120" cy="2926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9771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03" name="Rectangle 8202">
            <a:extLst>
              <a:ext uri="{FF2B5EF4-FFF2-40B4-BE49-F238E27FC236}">
                <a16:creationId xmlns:a16="http://schemas.microsoft.com/office/drawing/2014/main" id="{C29C59CE-9D5A-4E64-9F64-161998AB2D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59FB5D-E50F-8DAA-0362-00352E94FF5A}"/>
              </a:ext>
            </a:extLst>
          </p:cNvPr>
          <p:cNvSpPr>
            <a:spLocks noGrp="1"/>
          </p:cNvSpPr>
          <p:nvPr>
            <p:ph type="title"/>
          </p:nvPr>
        </p:nvSpPr>
        <p:spPr>
          <a:xfrm>
            <a:off x="6501809" y="365125"/>
            <a:ext cx="4851990" cy="2068086"/>
          </a:xfrm>
        </p:spPr>
        <p:txBody>
          <a:bodyPr anchor="b">
            <a:normAutofit/>
          </a:bodyPr>
          <a:lstStyle/>
          <a:p>
            <a:r>
              <a:rPr lang="en-US" sz="5400"/>
              <a:t>SYLHET</a:t>
            </a:r>
          </a:p>
        </p:txBody>
      </p:sp>
      <p:pic>
        <p:nvPicPr>
          <p:cNvPr id="8196" name="Picture 4" descr="A river with rocks in the water&#10;&#10;Description automatically generated">
            <a:extLst>
              <a:ext uri="{FF2B5EF4-FFF2-40B4-BE49-F238E27FC236}">
                <a16:creationId xmlns:a16="http://schemas.microsoft.com/office/drawing/2014/main" id="{4E255529-5E62-E398-14F9-3D32E4E414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0406" r="3456" b="2"/>
          <a:stretch/>
        </p:blipFill>
        <p:spPr bwMode="auto">
          <a:xfrm>
            <a:off x="2" y="2"/>
            <a:ext cx="2873113" cy="2520153"/>
          </a:xfrm>
          <a:custGeom>
            <a:avLst/>
            <a:gdLst/>
            <a:ahLst/>
            <a:cxnLst/>
            <a:rect l="l" t="t" r="r" b="b"/>
            <a:pathLst>
              <a:path w="2873113" h="2520153">
                <a:moveTo>
                  <a:pt x="0" y="0"/>
                </a:moveTo>
                <a:lnTo>
                  <a:pt x="2863050" y="0"/>
                </a:lnTo>
                <a:lnTo>
                  <a:pt x="2860357" y="23417"/>
                </a:lnTo>
                <a:cubicBezTo>
                  <a:pt x="2854714" y="58297"/>
                  <a:pt x="2848787" y="93209"/>
                  <a:pt x="2846577" y="128562"/>
                </a:cubicBezTo>
                <a:cubicBezTo>
                  <a:pt x="2835325" y="313204"/>
                  <a:pt x="2844701" y="497594"/>
                  <a:pt x="2857292" y="681606"/>
                </a:cubicBezTo>
                <a:cubicBezTo>
                  <a:pt x="2874974" y="930009"/>
                  <a:pt x="2873501" y="1179283"/>
                  <a:pt x="2852872" y="1427485"/>
                </a:cubicBezTo>
                <a:cubicBezTo>
                  <a:pt x="2831655" y="1647555"/>
                  <a:pt x="2835660" y="1869138"/>
                  <a:pt x="2864794" y="2088415"/>
                </a:cubicBezTo>
                <a:cubicBezTo>
                  <a:pt x="2882609" y="2212685"/>
                  <a:pt x="2866535" y="2338091"/>
                  <a:pt x="2864794" y="2462992"/>
                </a:cubicBezTo>
                <a:lnTo>
                  <a:pt x="2863832" y="2503401"/>
                </a:lnTo>
                <a:lnTo>
                  <a:pt x="2759379" y="2506812"/>
                </a:lnTo>
                <a:cubicBezTo>
                  <a:pt x="2718815" y="2505399"/>
                  <a:pt x="2678327" y="2501250"/>
                  <a:pt x="2638141" y="2494371"/>
                </a:cubicBezTo>
                <a:cubicBezTo>
                  <a:pt x="2542898" y="2477013"/>
                  <a:pt x="2447655" y="2484775"/>
                  <a:pt x="2352412" y="2491125"/>
                </a:cubicBezTo>
                <a:cubicBezTo>
                  <a:pt x="2090938" y="2508483"/>
                  <a:pt x="1829464" y="2529652"/>
                  <a:pt x="1567101" y="2515539"/>
                </a:cubicBezTo>
                <a:cubicBezTo>
                  <a:pt x="1511098" y="2512576"/>
                  <a:pt x="1456492" y="2499593"/>
                  <a:pt x="1400871" y="2494229"/>
                </a:cubicBezTo>
                <a:cubicBezTo>
                  <a:pt x="1239211" y="2478564"/>
                  <a:pt x="1078187" y="2496912"/>
                  <a:pt x="916909" y="2504391"/>
                </a:cubicBezTo>
                <a:cubicBezTo>
                  <a:pt x="738423" y="2515144"/>
                  <a:pt x="559493" y="2512971"/>
                  <a:pt x="381262" y="2497899"/>
                </a:cubicBezTo>
                <a:cubicBezTo>
                  <a:pt x="284495" y="2488444"/>
                  <a:pt x="187601" y="2485233"/>
                  <a:pt x="90675" y="2486397"/>
                </a:cubicBezTo>
                <a:lnTo>
                  <a:pt x="0" y="2490996"/>
                </a:lnTo>
                <a:close/>
              </a:path>
            </a:pathLst>
          </a:custGeom>
          <a:noFill/>
          <a:extLst>
            <a:ext uri="{909E8E84-426E-40DD-AFC4-6F175D3DCCD1}">
              <a14:hiddenFill xmlns:a14="http://schemas.microsoft.com/office/drawing/2010/main">
                <a:solidFill>
                  <a:srgbClr val="FFFFFF"/>
                </a:solidFill>
              </a14:hiddenFill>
            </a:ext>
          </a:extLst>
        </p:spPr>
      </p:pic>
      <p:pic>
        <p:nvPicPr>
          <p:cNvPr id="8198" name="Picture 6" descr="A group of people outside a building&#10;&#10;Description automatically generated">
            <a:extLst>
              <a:ext uri="{FF2B5EF4-FFF2-40B4-BE49-F238E27FC236}">
                <a16:creationId xmlns:a16="http://schemas.microsoft.com/office/drawing/2014/main" id="{2B77A033-2FB9-F9AF-7CE2-62219AB019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672" r="16967" b="-2"/>
          <a:stretch/>
        </p:blipFill>
        <p:spPr bwMode="auto">
          <a:xfrm>
            <a:off x="3060436" y="10"/>
            <a:ext cx="2843573" cy="2524624"/>
          </a:xfrm>
          <a:custGeom>
            <a:avLst/>
            <a:gdLst/>
            <a:ahLst/>
            <a:cxnLst/>
            <a:rect l="l" t="t" r="r" b="b"/>
            <a:pathLst>
              <a:path w="2843573" h="2524634">
                <a:moveTo>
                  <a:pt x="26682" y="0"/>
                </a:moveTo>
                <a:lnTo>
                  <a:pt x="2822452" y="0"/>
                </a:lnTo>
                <a:lnTo>
                  <a:pt x="2820993" y="10824"/>
                </a:lnTo>
                <a:cubicBezTo>
                  <a:pt x="2808235" y="122326"/>
                  <a:pt x="2818697" y="233190"/>
                  <a:pt x="2829285" y="343799"/>
                </a:cubicBezTo>
                <a:cubicBezTo>
                  <a:pt x="2840997" y="479092"/>
                  <a:pt x="2837348" y="615270"/>
                  <a:pt x="2818441" y="749749"/>
                </a:cubicBezTo>
                <a:cubicBezTo>
                  <a:pt x="2807788" y="840800"/>
                  <a:pt x="2808044" y="932796"/>
                  <a:pt x="2819207" y="1023783"/>
                </a:cubicBezTo>
                <a:cubicBezTo>
                  <a:pt x="2837578" y="1193205"/>
                  <a:pt x="2863349" y="1363775"/>
                  <a:pt x="2819207" y="1534090"/>
                </a:cubicBezTo>
                <a:cubicBezTo>
                  <a:pt x="2800453" y="1606554"/>
                  <a:pt x="2806449" y="1682589"/>
                  <a:pt x="2816911" y="1756456"/>
                </a:cubicBezTo>
                <a:cubicBezTo>
                  <a:pt x="2833853" y="1883025"/>
                  <a:pt x="2834796" y="2011227"/>
                  <a:pt x="2819717" y="2138038"/>
                </a:cubicBezTo>
                <a:cubicBezTo>
                  <a:pt x="2811335" y="2205118"/>
                  <a:pt x="2811679" y="2273002"/>
                  <a:pt x="2820738" y="2339992"/>
                </a:cubicBezTo>
                <a:cubicBezTo>
                  <a:pt x="2827117" y="2381582"/>
                  <a:pt x="2826415" y="2423364"/>
                  <a:pt x="2825315" y="2465177"/>
                </a:cubicBezTo>
                <a:lnTo>
                  <a:pt x="2825058" y="2479654"/>
                </a:lnTo>
                <a:lnTo>
                  <a:pt x="2679762" y="2483128"/>
                </a:lnTo>
                <a:cubicBezTo>
                  <a:pt x="2618897" y="2485860"/>
                  <a:pt x="2558084" y="2490067"/>
                  <a:pt x="2497351" y="2496347"/>
                </a:cubicBezTo>
                <a:cubicBezTo>
                  <a:pt x="2332771" y="2513422"/>
                  <a:pt x="2168953" y="2506649"/>
                  <a:pt x="2004501" y="2503544"/>
                </a:cubicBezTo>
                <a:cubicBezTo>
                  <a:pt x="1819728" y="2500017"/>
                  <a:pt x="1634831" y="2501710"/>
                  <a:pt x="1450058" y="2501710"/>
                </a:cubicBezTo>
                <a:cubicBezTo>
                  <a:pt x="1369673" y="2501992"/>
                  <a:pt x="1289796" y="2497193"/>
                  <a:pt x="1209792" y="2489009"/>
                </a:cubicBezTo>
                <a:cubicBezTo>
                  <a:pt x="1093723" y="2477295"/>
                  <a:pt x="978288" y="2491407"/>
                  <a:pt x="863997" y="2510177"/>
                </a:cubicBezTo>
                <a:cubicBezTo>
                  <a:pt x="784361" y="2521298"/>
                  <a:pt x="704102" y="2526010"/>
                  <a:pt x="623857" y="2524289"/>
                </a:cubicBezTo>
                <a:cubicBezTo>
                  <a:pt x="427783" y="2524430"/>
                  <a:pt x="232091" y="2514693"/>
                  <a:pt x="36524" y="2497052"/>
                </a:cubicBezTo>
                <a:lnTo>
                  <a:pt x="13350" y="2496674"/>
                </a:lnTo>
                <a:lnTo>
                  <a:pt x="17533" y="2292198"/>
                </a:lnTo>
                <a:cubicBezTo>
                  <a:pt x="19808" y="2209062"/>
                  <a:pt x="21290" y="2125926"/>
                  <a:pt x="17874" y="2042789"/>
                </a:cubicBezTo>
                <a:cubicBezTo>
                  <a:pt x="8899" y="1823109"/>
                  <a:pt x="-1415" y="1603430"/>
                  <a:pt x="13052" y="1383876"/>
                </a:cubicBezTo>
                <a:cubicBezTo>
                  <a:pt x="22963" y="1233390"/>
                  <a:pt x="35957" y="1082147"/>
                  <a:pt x="31938" y="930905"/>
                </a:cubicBezTo>
                <a:cubicBezTo>
                  <a:pt x="27652" y="775629"/>
                  <a:pt x="13587" y="620983"/>
                  <a:pt x="3274" y="466086"/>
                </a:cubicBezTo>
                <a:cubicBezTo>
                  <a:pt x="-4187" y="352451"/>
                  <a:pt x="1117" y="238378"/>
                  <a:pt x="19079" y="125790"/>
                </a:cubicBezTo>
                <a:cubicBezTo>
                  <a:pt x="25442" y="85647"/>
                  <a:pt x="27250" y="45378"/>
                  <a:pt x="26899" y="5094"/>
                </a:cubicBezTo>
                <a:close/>
              </a:path>
            </a:pathLst>
          </a:custGeom>
          <a:noFill/>
          <a:extLst>
            <a:ext uri="{909E8E84-426E-40DD-AFC4-6F175D3DCCD1}">
              <a14:hiddenFill xmlns:a14="http://schemas.microsoft.com/office/drawing/2010/main">
                <a:solidFill>
                  <a:srgbClr val="FFFFFF"/>
                </a:solidFill>
              </a14:hiddenFill>
            </a:ext>
          </a:extLst>
        </p:spPr>
      </p:pic>
      <p:sp>
        <p:nvSpPr>
          <p:cNvPr id="8205" name="sketch line">
            <a:extLst>
              <a:ext uri="{FF2B5EF4-FFF2-40B4-BE49-F238E27FC236}">
                <a16:creationId xmlns:a16="http://schemas.microsoft.com/office/drawing/2014/main" id="{2EA3E16E-E32B-4992-ADBC-EA9C33A6FE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01809" y="2579272"/>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4" name="Picture 2" descr="A person standing in a field with trees and mountains in the background&#10;&#10;Description automatically generated">
            <a:extLst>
              <a:ext uri="{FF2B5EF4-FFF2-40B4-BE49-F238E27FC236}">
                <a16:creationId xmlns:a16="http://schemas.microsoft.com/office/drawing/2014/main" id="{59A1DD5A-9815-E395-A7BA-535C5CF71A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9296" b="-1"/>
          <a:stretch/>
        </p:blipFill>
        <p:spPr bwMode="auto">
          <a:xfrm>
            <a:off x="1" y="2716074"/>
            <a:ext cx="5909625" cy="4141924"/>
          </a:xfrm>
          <a:custGeom>
            <a:avLst/>
            <a:gdLst/>
            <a:ahLst/>
            <a:cxnLst/>
            <a:rect l="l" t="t" r="r" b="b"/>
            <a:pathLst>
              <a:path w="5909625" h="4141924">
                <a:moveTo>
                  <a:pt x="1823444" y="1329"/>
                </a:moveTo>
                <a:cubicBezTo>
                  <a:pt x="1893960" y="3895"/>
                  <a:pt x="1964367" y="10183"/>
                  <a:pt x="2034428" y="20181"/>
                </a:cubicBezTo>
                <a:cubicBezTo>
                  <a:pt x="2139449" y="36834"/>
                  <a:pt x="2245360" y="26532"/>
                  <a:pt x="2350889" y="19476"/>
                </a:cubicBezTo>
                <a:cubicBezTo>
                  <a:pt x="2478642" y="10867"/>
                  <a:pt x="2606268" y="6210"/>
                  <a:pt x="2734275" y="20323"/>
                </a:cubicBezTo>
                <a:cubicBezTo>
                  <a:pt x="2825326" y="30483"/>
                  <a:pt x="2916886" y="21029"/>
                  <a:pt x="3008193" y="15383"/>
                </a:cubicBezTo>
                <a:cubicBezTo>
                  <a:pt x="3103486" y="8045"/>
                  <a:pt x="3199137" y="8045"/>
                  <a:pt x="3294430" y="15383"/>
                </a:cubicBezTo>
                <a:cubicBezTo>
                  <a:pt x="3381546" y="22750"/>
                  <a:pt x="3469080" y="21000"/>
                  <a:pt x="3555904" y="10161"/>
                </a:cubicBezTo>
                <a:cubicBezTo>
                  <a:pt x="3657497" y="-1693"/>
                  <a:pt x="3759089" y="7480"/>
                  <a:pt x="3860682" y="16089"/>
                </a:cubicBezTo>
                <a:cubicBezTo>
                  <a:pt x="4039485" y="31472"/>
                  <a:pt x="4218161" y="24557"/>
                  <a:pt x="4396583" y="13266"/>
                </a:cubicBezTo>
                <a:cubicBezTo>
                  <a:pt x="4519422" y="6041"/>
                  <a:pt x="4642589" y="10007"/>
                  <a:pt x="4764856" y="25121"/>
                </a:cubicBezTo>
                <a:cubicBezTo>
                  <a:pt x="4813493" y="30483"/>
                  <a:pt x="4862258" y="29496"/>
                  <a:pt x="4911023" y="30483"/>
                </a:cubicBezTo>
                <a:cubicBezTo>
                  <a:pt x="4915721" y="30625"/>
                  <a:pt x="4920801" y="29108"/>
                  <a:pt x="4925690" y="28984"/>
                </a:cubicBezTo>
                <a:lnTo>
                  <a:pt x="4927821" y="30065"/>
                </a:lnTo>
                <a:lnTo>
                  <a:pt x="4960258" y="27641"/>
                </a:lnTo>
                <a:lnTo>
                  <a:pt x="4964870" y="27986"/>
                </a:lnTo>
                <a:lnTo>
                  <a:pt x="4964882" y="27978"/>
                </a:lnTo>
                <a:cubicBezTo>
                  <a:pt x="4969755" y="27908"/>
                  <a:pt x="4974899" y="29284"/>
                  <a:pt x="4979471" y="28790"/>
                </a:cubicBezTo>
                <a:cubicBezTo>
                  <a:pt x="5154578" y="12123"/>
                  <a:pt x="5330536" y="9611"/>
                  <a:pt x="5505974" y="21310"/>
                </a:cubicBezTo>
                <a:cubicBezTo>
                  <a:pt x="5586740" y="25614"/>
                  <a:pt x="5667442" y="25544"/>
                  <a:pt x="5748129" y="23092"/>
                </a:cubicBezTo>
                <a:lnTo>
                  <a:pt x="5892006" y="15658"/>
                </a:lnTo>
                <a:lnTo>
                  <a:pt x="5894187" y="91357"/>
                </a:lnTo>
                <a:cubicBezTo>
                  <a:pt x="5891252" y="119679"/>
                  <a:pt x="5887042" y="148001"/>
                  <a:pt x="5881429" y="176068"/>
                </a:cubicBezTo>
                <a:cubicBezTo>
                  <a:pt x="5868671" y="240494"/>
                  <a:pt x="5878112" y="303645"/>
                  <a:pt x="5888063" y="367433"/>
                </a:cubicBezTo>
                <a:cubicBezTo>
                  <a:pt x="5896291" y="414790"/>
                  <a:pt x="5896291" y="463218"/>
                  <a:pt x="5888063" y="510574"/>
                </a:cubicBezTo>
                <a:cubicBezTo>
                  <a:pt x="5868926" y="612636"/>
                  <a:pt x="5879515" y="714697"/>
                  <a:pt x="5889083" y="815610"/>
                </a:cubicBezTo>
                <a:cubicBezTo>
                  <a:pt x="5901841" y="951224"/>
                  <a:pt x="5908220" y="1085690"/>
                  <a:pt x="5876326" y="1220284"/>
                </a:cubicBezTo>
                <a:cubicBezTo>
                  <a:pt x="5856296" y="1304994"/>
                  <a:pt x="5872754" y="1390981"/>
                  <a:pt x="5883342" y="1475437"/>
                </a:cubicBezTo>
                <a:cubicBezTo>
                  <a:pt x="5891354" y="1538243"/>
                  <a:pt x="5892298" y="1601751"/>
                  <a:pt x="5886149" y="1664761"/>
                </a:cubicBezTo>
                <a:cubicBezTo>
                  <a:pt x="5876836" y="1760329"/>
                  <a:pt x="5880140" y="1856713"/>
                  <a:pt x="5895972" y="1951426"/>
                </a:cubicBezTo>
                <a:cubicBezTo>
                  <a:pt x="5905362" y="2004791"/>
                  <a:pt x="5901727" y="2059623"/>
                  <a:pt x="5885384" y="2111279"/>
                </a:cubicBezTo>
                <a:cubicBezTo>
                  <a:pt x="5861527" y="2185401"/>
                  <a:pt x="5875943" y="2261054"/>
                  <a:pt x="5885384" y="2335942"/>
                </a:cubicBezTo>
                <a:cubicBezTo>
                  <a:pt x="5899545" y="2453440"/>
                  <a:pt x="5916513" y="2570683"/>
                  <a:pt x="5906434" y="2689584"/>
                </a:cubicBezTo>
                <a:cubicBezTo>
                  <a:pt x="5904839" y="2722155"/>
                  <a:pt x="5900310" y="2754521"/>
                  <a:pt x="5892910" y="2786288"/>
                </a:cubicBezTo>
                <a:cubicBezTo>
                  <a:pt x="5859473" y="2908978"/>
                  <a:pt x="5857980" y="3038188"/>
                  <a:pt x="5888573" y="3161618"/>
                </a:cubicBezTo>
                <a:cubicBezTo>
                  <a:pt x="5920978" y="3294426"/>
                  <a:pt x="5914089" y="3426468"/>
                  <a:pt x="5880791" y="3558127"/>
                </a:cubicBezTo>
                <a:cubicBezTo>
                  <a:pt x="5844074" y="3697862"/>
                  <a:pt x="5840847" y="3844294"/>
                  <a:pt x="5871350" y="3985509"/>
                </a:cubicBezTo>
                <a:lnTo>
                  <a:pt x="5884107" y="4141924"/>
                </a:lnTo>
                <a:lnTo>
                  <a:pt x="0" y="4141924"/>
                </a:lnTo>
                <a:lnTo>
                  <a:pt x="0" y="18996"/>
                </a:lnTo>
                <a:lnTo>
                  <a:pt x="114789" y="16636"/>
                </a:lnTo>
                <a:cubicBezTo>
                  <a:pt x="229350" y="12949"/>
                  <a:pt x="343737" y="7904"/>
                  <a:pt x="457838" y="9315"/>
                </a:cubicBezTo>
                <a:cubicBezTo>
                  <a:pt x="553081" y="10444"/>
                  <a:pt x="648070" y="31612"/>
                  <a:pt x="743567" y="27661"/>
                </a:cubicBezTo>
                <a:cubicBezTo>
                  <a:pt x="1032979" y="16089"/>
                  <a:pt x="1322518" y="19899"/>
                  <a:pt x="1611803" y="4799"/>
                </a:cubicBezTo>
                <a:cubicBezTo>
                  <a:pt x="1682301" y="-85"/>
                  <a:pt x="1752927" y="-1238"/>
                  <a:pt x="1823444" y="1329"/>
                </a:cubicBez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4A79D125-C849-7533-115C-1E6AFA6DE8B6}"/>
              </a:ext>
            </a:extLst>
          </p:cNvPr>
          <p:cNvSpPr>
            <a:spLocks noGrp="1"/>
          </p:cNvSpPr>
          <p:nvPr>
            <p:ph idx="1"/>
          </p:nvPr>
        </p:nvSpPr>
        <p:spPr>
          <a:xfrm>
            <a:off x="6501809" y="2846851"/>
            <a:ext cx="4851990" cy="3330111"/>
          </a:xfrm>
        </p:spPr>
        <p:txBody>
          <a:bodyPr>
            <a:normAutofit/>
          </a:bodyPr>
          <a:lstStyle/>
          <a:p>
            <a:r>
              <a:rPr lang="en-US" sz="1500" b="1" i="0">
                <a:effectLst/>
                <a:latin typeface="Arial" panose="020B0604020202020204" pitchFamily="34" charset="0"/>
              </a:rPr>
              <a:t>Sylhet Division</a:t>
            </a:r>
            <a:r>
              <a:rPr lang="en-US" sz="1500" b="0" i="0">
                <a:effectLst/>
                <a:latin typeface="Arial" panose="020B0604020202020204" pitchFamily="34" charset="0"/>
              </a:rPr>
              <a:t> is the northeastern </a:t>
            </a:r>
            <a:r>
              <a:rPr lang="en-US" sz="1500" b="0" i="0" u="none" strike="noStrike">
                <a:effectLst/>
                <a:latin typeface="Arial" panose="020B0604020202020204" pitchFamily="34" charset="0"/>
                <a:hlinkClick r:id="rId5" tooltip="Divisions of Bangladesh"/>
              </a:rPr>
              <a:t>division</a:t>
            </a:r>
            <a:r>
              <a:rPr lang="en-US" sz="1500" b="0" i="0">
                <a:effectLst/>
                <a:latin typeface="Arial" panose="020B0604020202020204" pitchFamily="34" charset="0"/>
              </a:rPr>
              <a:t> of </a:t>
            </a:r>
            <a:r>
              <a:rPr lang="en-US" sz="1500" b="0" i="0" u="none" strike="noStrike">
                <a:effectLst/>
                <a:latin typeface="Arial" panose="020B0604020202020204" pitchFamily="34" charset="0"/>
                <a:hlinkClick r:id="rId6" tooltip="Bangladesh"/>
              </a:rPr>
              <a:t>Bangladesh</a:t>
            </a:r>
            <a:r>
              <a:rPr lang="en-US" sz="1500" b="0" i="0">
                <a:effectLst/>
                <a:latin typeface="Arial" panose="020B0604020202020204" pitchFamily="34" charset="0"/>
              </a:rPr>
              <a:t>. It is bordered by the </a:t>
            </a:r>
            <a:r>
              <a:rPr lang="en-US" sz="1500" b="0" i="0" u="none" strike="noStrike">
                <a:effectLst/>
                <a:latin typeface="Arial" panose="020B0604020202020204" pitchFamily="34" charset="0"/>
                <a:hlinkClick r:id="rId7" tooltip="States and union territories of India"/>
              </a:rPr>
              <a:t>Indian states</a:t>
            </a:r>
            <a:r>
              <a:rPr lang="en-US" sz="1500" b="0" i="0">
                <a:effectLst/>
                <a:latin typeface="Arial" panose="020B0604020202020204" pitchFamily="34" charset="0"/>
              </a:rPr>
              <a:t> of </a:t>
            </a:r>
            <a:r>
              <a:rPr lang="en-US" sz="1500" b="0" i="0" u="none" strike="noStrike">
                <a:effectLst/>
                <a:latin typeface="Arial" panose="020B0604020202020204" pitchFamily="34" charset="0"/>
                <a:hlinkClick r:id="rId8" tooltip="Meghalaya"/>
              </a:rPr>
              <a:t>Meghalaya</a:t>
            </a:r>
            <a:r>
              <a:rPr lang="en-US" sz="1500" b="0" i="0">
                <a:effectLst/>
                <a:latin typeface="Arial" panose="020B0604020202020204" pitchFamily="34" charset="0"/>
              </a:rPr>
              <a:t>, </a:t>
            </a:r>
            <a:r>
              <a:rPr lang="en-US" sz="1500" b="0" i="0" u="none" strike="noStrike">
                <a:effectLst/>
                <a:latin typeface="Arial" panose="020B0604020202020204" pitchFamily="34" charset="0"/>
                <a:hlinkClick r:id="rId9" tooltip="Assam"/>
              </a:rPr>
              <a:t>Assam</a:t>
            </a:r>
            <a:r>
              <a:rPr lang="en-US" sz="1500" b="0" i="0">
                <a:effectLst/>
                <a:latin typeface="Arial" panose="020B0604020202020204" pitchFamily="34" charset="0"/>
              </a:rPr>
              <a:t> and </a:t>
            </a:r>
            <a:r>
              <a:rPr lang="en-US" sz="1500" b="0" i="0" u="none" strike="noStrike">
                <a:effectLst/>
                <a:latin typeface="Arial" panose="020B0604020202020204" pitchFamily="34" charset="0"/>
                <a:hlinkClick r:id="rId10" tooltip="Tripura"/>
              </a:rPr>
              <a:t>Tripura</a:t>
            </a:r>
            <a:r>
              <a:rPr lang="en-US" sz="1500" b="0" i="0">
                <a:effectLst/>
                <a:latin typeface="Arial" panose="020B0604020202020204" pitchFamily="34" charset="0"/>
              </a:rPr>
              <a:t> to the north, east and south respectively, and by the divisions of </a:t>
            </a:r>
            <a:r>
              <a:rPr lang="en-US" sz="1500" b="0" i="0" u="none" strike="noStrike">
                <a:effectLst/>
                <a:latin typeface="Arial" panose="020B0604020202020204" pitchFamily="34" charset="0"/>
                <a:hlinkClick r:id="rId11" tooltip="Chittagong Division"/>
              </a:rPr>
              <a:t>Chittagong </a:t>
            </a:r>
            <a:r>
              <a:rPr lang="en-US" sz="1500" b="0" i="0">
                <a:effectLst/>
                <a:latin typeface="Arial" panose="020B0604020202020204" pitchFamily="34" charset="0"/>
              </a:rPr>
              <a:t>to the southwest and </a:t>
            </a:r>
            <a:r>
              <a:rPr lang="en-US" sz="1500" b="0" i="0" u="none" strike="noStrike">
                <a:effectLst/>
                <a:latin typeface="Arial" panose="020B0604020202020204" pitchFamily="34" charset="0"/>
                <a:hlinkClick r:id="rId12" tooltip="Dhaka Division"/>
              </a:rPr>
              <a:t>Dhaka</a:t>
            </a:r>
            <a:r>
              <a:rPr lang="en-US" sz="1500" b="0" i="0">
                <a:effectLst/>
                <a:latin typeface="Arial" panose="020B0604020202020204" pitchFamily="34" charset="0"/>
              </a:rPr>
              <a:t> and </a:t>
            </a:r>
            <a:r>
              <a:rPr lang="en-US" sz="1500" b="0" i="0" u="none" strike="noStrike">
                <a:effectLst/>
                <a:latin typeface="Arial" panose="020B0604020202020204" pitchFamily="34" charset="0"/>
                <a:hlinkClick r:id="rId13" tooltip="Mymensingh Division"/>
              </a:rPr>
              <a:t>Mymensingh</a:t>
            </a:r>
            <a:r>
              <a:rPr lang="en-US" sz="1500" b="0" i="0">
                <a:effectLst/>
                <a:latin typeface="Arial" panose="020B0604020202020204" pitchFamily="34" charset="0"/>
              </a:rPr>
              <a:t> to the west.</a:t>
            </a:r>
          </a:p>
          <a:p>
            <a:r>
              <a:rPr lang="en-US" sz="1500" b="0" i="0">
                <a:effectLst/>
                <a:latin typeface="Arial" panose="020B0604020202020204" pitchFamily="34" charset="0"/>
              </a:rPr>
              <a:t>Prior to the </a:t>
            </a:r>
            <a:r>
              <a:rPr lang="en-US" sz="1500" b="0" i="0" u="none" strike="noStrike">
                <a:effectLst/>
                <a:latin typeface="Arial" panose="020B0604020202020204" pitchFamily="34" charset="0"/>
                <a:hlinkClick r:id="rId14" tooltip="Partition of India"/>
              </a:rPr>
              <a:t>Partition in 1947</a:t>
            </a:r>
            <a:r>
              <a:rPr lang="en-US" sz="1500" b="0" i="0">
                <a:effectLst/>
                <a:latin typeface="Arial" panose="020B0604020202020204" pitchFamily="34" charset="0"/>
              </a:rPr>
              <a:t>, it included </a:t>
            </a:r>
            <a:r>
              <a:rPr lang="en-US" sz="1500" b="0" i="0" u="none" strike="noStrike">
                <a:effectLst/>
                <a:latin typeface="Arial" panose="020B0604020202020204" pitchFamily="34" charset="0"/>
                <a:hlinkClick r:id="rId15" tooltip="Karimganj district"/>
              </a:rPr>
              <a:t>Karimganj subdivision</a:t>
            </a:r>
            <a:r>
              <a:rPr lang="en-US" sz="1500" b="0" i="0">
                <a:effectLst/>
                <a:latin typeface="Arial" panose="020B0604020202020204" pitchFamily="34" charset="0"/>
              </a:rPr>
              <a:t> (presently in </a:t>
            </a:r>
            <a:r>
              <a:rPr lang="en-US" sz="1500" b="0" i="0" u="none" strike="noStrike">
                <a:effectLst/>
                <a:latin typeface="Arial" panose="020B0604020202020204" pitchFamily="34" charset="0"/>
                <a:hlinkClick r:id="rId16" tooltip="Barak Valley"/>
              </a:rPr>
              <a:t>Barak Valley</a:t>
            </a:r>
            <a:r>
              <a:rPr lang="en-US" sz="1500" b="0" i="0">
                <a:effectLst/>
                <a:latin typeface="Arial" panose="020B0604020202020204" pitchFamily="34" charset="0"/>
              </a:rPr>
              <a:t>, Assam, India). However, Karimganj (including the </a:t>
            </a:r>
            <a:r>
              <a:rPr lang="en-US" sz="1500" b="0" i="0" u="none" strike="noStrike">
                <a:effectLst/>
                <a:latin typeface="Arial" panose="020B0604020202020204" pitchFamily="34" charset="0"/>
                <a:hlinkClick r:id="rId17" tooltip="Thana"/>
              </a:rPr>
              <a:t>thanas</a:t>
            </a:r>
            <a:r>
              <a:rPr lang="en-US" sz="1500" b="0" i="0">
                <a:effectLst/>
                <a:latin typeface="Arial" panose="020B0604020202020204" pitchFamily="34" charset="0"/>
              </a:rPr>
              <a:t> of </a:t>
            </a:r>
            <a:r>
              <a:rPr lang="en-US" sz="1500" b="0" i="0" u="none" strike="noStrike">
                <a:effectLst/>
                <a:latin typeface="Arial" panose="020B0604020202020204" pitchFamily="34" charset="0"/>
                <a:hlinkClick r:id="rId18" tooltip="Badarpur, Assam"/>
              </a:rPr>
              <a:t>Badarpur</a:t>
            </a:r>
            <a:r>
              <a:rPr lang="en-US" sz="1500" b="0" i="0">
                <a:effectLst/>
                <a:latin typeface="Arial" panose="020B0604020202020204" pitchFamily="34" charset="0"/>
              </a:rPr>
              <a:t>, </a:t>
            </a:r>
            <a:r>
              <a:rPr lang="en-US" sz="1500" b="0" i="0" u="none" strike="noStrike">
                <a:effectLst/>
                <a:latin typeface="Arial" panose="020B0604020202020204" pitchFamily="34" charset="0"/>
                <a:hlinkClick r:id="rId19" tooltip="Patharkandi"/>
              </a:rPr>
              <a:t>Patharkandi</a:t>
            </a:r>
            <a:r>
              <a:rPr lang="en-US" sz="1500" b="0" i="0">
                <a:effectLst/>
                <a:latin typeface="Arial" panose="020B0604020202020204" pitchFamily="34" charset="0"/>
              </a:rPr>
              <a:t> and </a:t>
            </a:r>
            <a:r>
              <a:rPr lang="en-US" sz="1500" b="0" i="0" u="none" strike="noStrike">
                <a:effectLst/>
                <a:latin typeface="Arial" panose="020B0604020202020204" pitchFamily="34" charset="0"/>
                <a:hlinkClick r:id="rId20" tooltip="Ratabari Assembly constituency"/>
              </a:rPr>
              <a:t>Ratabari</a:t>
            </a:r>
            <a:r>
              <a:rPr lang="en-US" sz="1500" b="0" i="0">
                <a:effectLst/>
                <a:latin typeface="Arial" panose="020B0604020202020204" pitchFamily="34" charset="0"/>
              </a:rPr>
              <a:t>) was inexplicably severed from Sylhet by the </a:t>
            </a:r>
            <a:r>
              <a:rPr lang="en-US" sz="1500" b="0" i="0" u="none" strike="noStrike">
                <a:effectLst/>
                <a:latin typeface="Arial" panose="020B0604020202020204" pitchFamily="34" charset="0"/>
                <a:hlinkClick r:id="rId21" tooltip="Radcliffe Line"/>
              </a:rPr>
              <a:t>Radcliffe Boundary Commission</a:t>
            </a:r>
            <a:r>
              <a:rPr lang="en-US" sz="1500" b="0" i="0">
                <a:effectLst/>
                <a:latin typeface="Arial" panose="020B0604020202020204" pitchFamily="34" charset="0"/>
              </a:rPr>
              <a:t>. According to </a:t>
            </a:r>
            <a:r>
              <a:rPr lang="en-US" sz="1500" b="0" i="0" u="none" strike="noStrike">
                <a:effectLst/>
                <a:latin typeface="Arial" panose="020B0604020202020204" pitchFamily="34" charset="0"/>
                <a:hlinkClick r:id="rId22" tooltip="Niharranjan Ray"/>
              </a:rPr>
              <a:t>Niharranjan Ray</a:t>
            </a:r>
            <a:r>
              <a:rPr lang="en-US" sz="1500" b="0" i="0">
                <a:effectLst/>
                <a:latin typeface="Arial" panose="020B0604020202020204" pitchFamily="34" charset="0"/>
              </a:rPr>
              <a:t>, it was partly due to a plea from a delegation led by </a:t>
            </a:r>
            <a:r>
              <a:rPr lang="en-US" sz="1500" b="0" i="0" u="none" strike="noStrike">
                <a:effectLst/>
                <a:latin typeface="Arial" panose="020B0604020202020204" pitchFamily="34" charset="0"/>
                <a:hlinkClick r:id="rId23" tooltip="Abdul Matlib Mazumdar"/>
              </a:rPr>
              <a:t>Abdul Matlib Mazumdar</a:t>
            </a:r>
            <a:r>
              <a:rPr lang="en-US" sz="1500" b="0" i="0">
                <a:effectLst/>
                <a:latin typeface="Arial" panose="020B0604020202020204" pitchFamily="34" charset="0"/>
              </a:rPr>
              <a:t>.</a:t>
            </a:r>
            <a:r>
              <a:rPr lang="en-US" sz="1500" b="0" i="0" u="none" strike="noStrike" baseline="30000">
                <a:effectLst/>
                <a:latin typeface="Arial" panose="020B0604020202020204" pitchFamily="34" charset="0"/>
                <a:hlinkClick r:id="rId24"/>
              </a:rPr>
              <a:t>[16]</a:t>
            </a:r>
            <a:endParaRPr lang="en-US" sz="1500" b="0" i="0">
              <a:effectLst/>
              <a:latin typeface="Arial" panose="020B0604020202020204" pitchFamily="34" charset="0"/>
            </a:endParaRPr>
          </a:p>
          <a:p>
            <a:pPr marL="0" indent="0">
              <a:buNone/>
            </a:pPr>
            <a:endParaRPr lang="en-US" sz="1500"/>
          </a:p>
        </p:txBody>
      </p:sp>
    </p:spTree>
    <p:extLst>
      <p:ext uri="{BB962C8B-B14F-4D97-AF65-F5344CB8AC3E}">
        <p14:creationId xmlns:p14="http://schemas.microsoft.com/office/powerpoint/2010/main" val="23369743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TotalTime>
  <Words>845</Words>
  <Application>Microsoft Office PowerPoint</Application>
  <PresentationFormat>Widescreen</PresentationFormat>
  <Paragraphs>33</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Calibri</vt:lpstr>
      <vt:lpstr>Office Theme</vt:lpstr>
      <vt:lpstr>BANGLADESH</vt:lpstr>
      <vt:lpstr>About Bangladesh</vt:lpstr>
      <vt:lpstr>Division of Bangladesh :</vt:lpstr>
      <vt:lpstr>BARISHAL</vt:lpstr>
      <vt:lpstr>CHATTOGRAM</vt:lpstr>
      <vt:lpstr>DHAKA</vt:lpstr>
      <vt:lpstr>KHULNA</vt:lpstr>
      <vt:lpstr>RAJSHAHI</vt:lpstr>
      <vt:lpstr>RANGPUR</vt:lpstr>
      <vt:lpstr>SYLHET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waari</dc:creator>
  <cp:lastModifiedBy>waari</cp:lastModifiedBy>
  <cp:revision>13</cp:revision>
  <dcterms:created xsi:type="dcterms:W3CDTF">2025-01-24T09:46:39Z</dcterms:created>
  <dcterms:modified xsi:type="dcterms:W3CDTF">2025-01-24T10:45:32Z</dcterms:modified>
</cp:coreProperties>
</file>